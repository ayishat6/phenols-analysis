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notesMasterIdLst>
    <p:notesMasterId r:id="rId14"/>
  </p:notesMasterIdLst>
  <p:sldIdLst>
    <p:sldId id="256" r:id="rId2"/>
    <p:sldId id="257" r:id="rId3"/>
    <p:sldId id="258" r:id="rId4"/>
    <p:sldId id="272" r:id="rId5"/>
    <p:sldId id="271" r:id="rId6"/>
    <p:sldId id="273" r:id="rId7"/>
    <p:sldId id="260" r:id="rId8"/>
    <p:sldId id="274" r:id="rId9"/>
    <p:sldId id="276" r:id="rId10"/>
    <p:sldId id="277" r:id="rId11"/>
    <p:sldId id="279" r:id="rId12"/>
    <p:sldId id="28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719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AE503A-04EF-C444-82D1-8701D51E733D}" type="datetimeFigureOut">
              <a:rPr lang="en-US" smtClean="0"/>
              <a:t>1/16/26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214DAA-C5EC-DA41-9E6B-E06EDAF0EB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811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Tavakol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M., &amp; O'Brien, D. (2023). The importance of crafting a good introduction to scholarly research: strategies for creating an effective and impactful opening statement. </a:t>
            </a:r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International journal of medical education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84–87. https://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doi.org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/10.5116/ijme.6499.82af</a:t>
            </a:r>
          </a:p>
          <a:p>
            <a:pPr marL="228600" indent="-228600">
              <a:buAutoNum type="arabicPeriod"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www.sjsu.edu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writingcenter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/docs/handouts/Introduction%20of%20Research%20Papers.pdf</a:t>
            </a:r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14DAA-C5EC-DA41-9E6B-E06EDAF0EB4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669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1/16/26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1/16/26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1/16/26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1/16/26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1/16/26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1/16/26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1/16/26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1/16/26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1/16/26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1/16/26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D490E-2C97-33A5-9DF4-8B191483E9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6E5D92-8996-36EF-AE77-4459F8E8D3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359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29B87-6623-1F90-16D6-9EE29AB51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998A9-1EFF-5BE6-AA00-EC05256F5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Provide reader with a clear understanding of the research study including the “research question, the scope, rationale, aims and objectives of study.”</a:t>
            </a:r>
            <a:r>
              <a:rPr lang="en-US" sz="2000" baseline="30000" dirty="0"/>
              <a:t>1</a:t>
            </a:r>
          </a:p>
          <a:p>
            <a:pPr lvl="1"/>
            <a:r>
              <a:rPr lang="en-US" sz="1800" dirty="0"/>
              <a:t>Seeks to answer questions related to </a:t>
            </a:r>
            <a:r>
              <a:rPr lang="en-US" sz="1800" b="1" dirty="0"/>
              <a:t>what the author is writing about</a:t>
            </a:r>
            <a:r>
              <a:rPr lang="en-US" sz="1800" dirty="0"/>
              <a:t>, </a:t>
            </a:r>
            <a:r>
              <a:rPr lang="en-US" sz="1800" b="1" dirty="0"/>
              <a:t>why it is important </a:t>
            </a:r>
            <a:r>
              <a:rPr lang="en-US" sz="1800" dirty="0"/>
              <a:t>and </a:t>
            </a:r>
            <a:r>
              <a:rPr lang="en-US" sz="1800" b="1" dirty="0"/>
              <a:t>what the reader should know about it</a:t>
            </a:r>
            <a:r>
              <a:rPr lang="en-US" sz="1800" b="1" baseline="30000" dirty="0"/>
              <a:t>2</a:t>
            </a:r>
            <a:r>
              <a:rPr lang="en-US" sz="1800" dirty="0"/>
              <a:t>. </a:t>
            </a:r>
          </a:p>
          <a:p>
            <a:r>
              <a:rPr lang="en-US" sz="2000" dirty="0"/>
              <a:t>Desired outcome: encourages the audience to read your work and better understand it</a:t>
            </a:r>
            <a:r>
              <a:rPr lang="en-US" sz="2000" baseline="30000" dirty="0"/>
              <a:t>2</a:t>
            </a:r>
            <a:r>
              <a:rPr lang="en-US" sz="2000" dirty="0"/>
              <a:t>.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420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A8E1C-EC7A-0ACC-EDA1-783E18243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7873F-7A42-56A3-11F7-4CB6BB84B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D9A2B-1C90-B02F-2AD1-0700F6296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Establishment of topic through brief overview of research topic</a:t>
            </a:r>
            <a:r>
              <a:rPr lang="en-US" baseline="30000" dirty="0"/>
              <a:t>2</a:t>
            </a:r>
            <a:endParaRPr lang="en-US" dirty="0"/>
          </a:p>
          <a:p>
            <a:r>
              <a:rPr lang="en-US" dirty="0"/>
              <a:t>Provide essential information to:  </a:t>
            </a:r>
            <a:r>
              <a:rPr lang="en-US" u="sng" dirty="0"/>
              <a:t>introduce</a:t>
            </a:r>
            <a:r>
              <a:rPr lang="en-US" dirty="0"/>
              <a:t> </a:t>
            </a:r>
            <a:r>
              <a:rPr lang="en-US" b="1" dirty="0"/>
              <a:t>a research topic</a:t>
            </a:r>
            <a:r>
              <a:rPr lang="en-US" dirty="0"/>
              <a:t>, </a:t>
            </a:r>
            <a:r>
              <a:rPr lang="en-US" u="sng" dirty="0"/>
              <a:t>introduce</a:t>
            </a:r>
            <a:r>
              <a:rPr lang="en-US" dirty="0"/>
              <a:t> a </a:t>
            </a:r>
            <a:r>
              <a:rPr lang="en-US" b="1" dirty="0"/>
              <a:t>research question related to topic</a:t>
            </a:r>
            <a:r>
              <a:rPr lang="en-US" dirty="0"/>
              <a:t>, </a:t>
            </a:r>
            <a:r>
              <a:rPr lang="en-US" u="sng" dirty="0"/>
              <a:t>introduce</a:t>
            </a:r>
            <a:r>
              <a:rPr lang="en-US" dirty="0"/>
              <a:t> and </a:t>
            </a:r>
            <a:r>
              <a:rPr lang="en-US" u="sng" dirty="0"/>
              <a:t>outline</a:t>
            </a:r>
            <a:r>
              <a:rPr lang="en-US" dirty="0"/>
              <a:t> </a:t>
            </a:r>
            <a:r>
              <a:rPr lang="en-US" b="1" dirty="0"/>
              <a:t>intended scope of research study to address said question</a:t>
            </a:r>
            <a:r>
              <a:rPr lang="en-US" b="1" baseline="30000" dirty="0"/>
              <a:t>1</a:t>
            </a:r>
            <a:r>
              <a:rPr lang="en-US" b="1" dirty="0"/>
              <a:t> </a:t>
            </a:r>
          </a:p>
          <a:p>
            <a:r>
              <a:rPr lang="en-US" b="1" dirty="0"/>
              <a:t>Not: </a:t>
            </a:r>
            <a:r>
              <a:rPr lang="en-US" dirty="0"/>
              <a:t>In depth-review of background literature, study design, or analysis plan</a:t>
            </a:r>
            <a:r>
              <a:rPr lang="en-US" baseline="30000" dirty="0"/>
              <a:t>1-2</a:t>
            </a:r>
            <a:r>
              <a:rPr lang="en-US" dirty="0"/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95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A3E5E-E353-4859-69B2-CC782FB31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26CA4-80DB-C61C-112F-728AD73A1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38CF4F3-BC3B-02C6-7F8C-A5353A264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390762"/>
            <a:ext cx="7303317" cy="4155142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200" dirty="0"/>
              <a:t>Establishment of topic through three-pronged approach</a:t>
            </a:r>
            <a:r>
              <a:rPr lang="en-US" sz="2200" baseline="30000" dirty="0"/>
              <a:t>2 </a:t>
            </a:r>
            <a:r>
              <a:rPr lang="en-US" sz="2200" dirty="0"/>
              <a:t> </a:t>
            </a:r>
          </a:p>
          <a:p>
            <a:pPr marL="571500" lvl="1" indent="-342900">
              <a:lnSpc>
                <a:spcPct val="90000"/>
              </a:lnSpc>
              <a:buFont typeface="+mj-lt"/>
              <a:buAutoNum type="arabicPeriod"/>
            </a:pPr>
            <a:r>
              <a:rPr lang="en-US" sz="1900" dirty="0">
                <a:sym typeface="Wingdings" pitchFamily="2" charset="2"/>
              </a:rPr>
              <a:t>Focus and scope </a:t>
            </a:r>
          </a:p>
          <a:p>
            <a:pPr marL="571500" lvl="1" indent="-342900">
              <a:lnSpc>
                <a:spcPct val="90000"/>
              </a:lnSpc>
              <a:buFont typeface="+mj-lt"/>
              <a:buAutoNum type="arabicPeriod"/>
            </a:pPr>
            <a:r>
              <a:rPr lang="en-US" sz="1900" dirty="0">
                <a:sym typeface="Wingdings" pitchFamily="2" charset="2"/>
              </a:rPr>
              <a:t>Problem statement </a:t>
            </a:r>
          </a:p>
          <a:p>
            <a:pPr marL="571500" lvl="1" indent="-342900">
              <a:lnSpc>
                <a:spcPct val="90000"/>
              </a:lnSpc>
              <a:buFont typeface="+mj-lt"/>
              <a:buAutoNum type="arabicPeriod"/>
            </a:pPr>
            <a:r>
              <a:rPr lang="en-US" sz="1900" dirty="0">
                <a:sym typeface="Wingdings" pitchFamily="2" charset="2"/>
              </a:rPr>
              <a:t>Specific research questions, hypothesis or objectives </a:t>
            </a:r>
          </a:p>
          <a:p>
            <a:pPr lvl="1">
              <a:lnSpc>
                <a:spcPct val="90000"/>
              </a:lnSpc>
            </a:pPr>
            <a:endParaRPr lang="en-US" sz="1900" dirty="0">
              <a:sym typeface="Wingdings" pitchFamily="2" charset="2"/>
            </a:endParaRPr>
          </a:p>
          <a:p>
            <a:pPr>
              <a:lnSpc>
                <a:spcPct val="90000"/>
              </a:lnSpc>
            </a:pPr>
            <a:r>
              <a:rPr lang="en-US" sz="2200" i="1" dirty="0">
                <a:sym typeface="Wingdings" pitchFamily="2" charset="2"/>
              </a:rPr>
              <a:t>Alternatively viewed as</a:t>
            </a:r>
            <a:r>
              <a:rPr lang="en-US" sz="2200" i="1" baseline="30000" dirty="0">
                <a:sym typeface="Wingdings" pitchFamily="2" charset="2"/>
              </a:rPr>
              <a:t>3</a:t>
            </a:r>
            <a:r>
              <a:rPr lang="en-US" sz="2200" i="1" dirty="0">
                <a:sym typeface="Wingdings" pitchFamily="2" charset="2"/>
              </a:rPr>
              <a:t>:</a:t>
            </a:r>
          </a:p>
          <a:p>
            <a:pPr marL="571500" lvl="1" indent="-342900">
              <a:lnSpc>
                <a:spcPct val="90000"/>
              </a:lnSpc>
              <a:buFont typeface="+mj-lt"/>
              <a:buAutoNum type="arabicPeriod"/>
            </a:pPr>
            <a:r>
              <a:rPr lang="en-US" sz="1900" dirty="0">
                <a:sym typeface="Wingdings" pitchFamily="2" charset="2"/>
              </a:rPr>
              <a:t>Background contextualization </a:t>
            </a:r>
          </a:p>
          <a:p>
            <a:pPr marL="571500" lvl="1" indent="-342900">
              <a:lnSpc>
                <a:spcPct val="90000"/>
              </a:lnSpc>
              <a:buFont typeface="+mj-lt"/>
              <a:buAutoNum type="arabicPeriod"/>
            </a:pPr>
            <a:r>
              <a:rPr lang="en-US" sz="1900" dirty="0">
                <a:sym typeface="Wingdings" pitchFamily="2" charset="2"/>
              </a:rPr>
              <a:t>Statement of problem </a:t>
            </a:r>
          </a:p>
          <a:p>
            <a:pPr marL="571500" lvl="1" indent="-342900">
              <a:lnSpc>
                <a:spcPct val="90000"/>
              </a:lnSpc>
              <a:buFont typeface="+mj-lt"/>
              <a:buAutoNum type="arabicPeriod"/>
            </a:pPr>
            <a:r>
              <a:rPr lang="en-US" sz="1900" dirty="0">
                <a:sym typeface="Wingdings" pitchFamily="2" charset="2"/>
              </a:rPr>
              <a:t>Response to the problem </a:t>
            </a:r>
          </a:p>
          <a:p>
            <a:pPr>
              <a:lnSpc>
                <a:spcPct val="90000"/>
              </a:lnSpc>
            </a:pPr>
            <a:endParaRPr lang="en-US" sz="2200" dirty="0"/>
          </a:p>
          <a:p>
            <a:pPr>
              <a:lnSpc>
                <a:spcPct val="9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04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C50F7-B9B0-6938-E269-893390ECE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5894832" cy="1188720"/>
          </a:xfrm>
        </p:spPr>
        <p:txBody>
          <a:bodyPr>
            <a:normAutofit/>
          </a:bodyPr>
          <a:lstStyle/>
          <a:p>
            <a:r>
              <a:rPr lang="en-US" dirty="0"/>
              <a:t>Structure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B095110-D70B-EEB3-9CA0-6D714B726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128" y="2638044"/>
            <a:ext cx="6107920" cy="3263206"/>
          </a:xfrm>
        </p:spPr>
        <p:txBody>
          <a:bodyPr>
            <a:normAutofit/>
          </a:bodyPr>
          <a:lstStyle/>
          <a:p>
            <a:r>
              <a:rPr lang="en-US" sz="2000" dirty="0"/>
              <a:t>Often viewed as </a:t>
            </a:r>
            <a:r>
              <a:rPr lang="en-US" sz="2000" b="1" dirty="0"/>
              <a:t>inverted triangle </a:t>
            </a:r>
            <a:r>
              <a:rPr lang="en-US" sz="2000" dirty="0"/>
              <a:t>narrowing down from </a:t>
            </a:r>
            <a:r>
              <a:rPr lang="en-US" sz="2000" i="1" dirty="0"/>
              <a:t>general background information</a:t>
            </a:r>
            <a:r>
              <a:rPr lang="en-US" sz="2000" dirty="0">
                <a:sym typeface="Wingdings" pitchFamily="2" charset="2"/>
              </a:rPr>
              <a:t> </a:t>
            </a:r>
            <a:r>
              <a:rPr lang="en-US" sz="2000" i="1" dirty="0">
                <a:sym typeface="Wingdings" pitchFamily="2" charset="2"/>
              </a:rPr>
              <a:t>specific background research</a:t>
            </a:r>
            <a:r>
              <a:rPr lang="en-US" sz="2000" dirty="0">
                <a:sym typeface="Wingdings" pitchFamily="2" charset="2"/>
              </a:rPr>
              <a:t> </a:t>
            </a:r>
            <a:r>
              <a:rPr lang="en-US" sz="2000" i="1" dirty="0">
                <a:sym typeface="Wingdings" pitchFamily="2" charset="2"/>
              </a:rPr>
              <a:t>focused research scope (question, hypothesis, objectives etc.).</a:t>
            </a:r>
            <a:r>
              <a:rPr lang="en-US" sz="2000" baseline="30000" dirty="0">
                <a:sym typeface="Wingdings" pitchFamily="2" charset="2"/>
              </a:rPr>
              <a:t>2</a:t>
            </a:r>
            <a:endParaRPr lang="en-US" sz="2000" dirty="0"/>
          </a:p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9398A9-0D0D-4901-BDDF-B3D93CECA7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6706" y="964692"/>
            <a:ext cx="3986784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1FEC3B-E514-4E21-B2CB-7903A73569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1298" y="1128683"/>
            <a:ext cx="3657600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DDA8D3-FE4E-1D82-3989-49CE2FF3F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890" y="1993431"/>
            <a:ext cx="3328416" cy="2879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374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8147C-380A-6342-6C69-3A0A49822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6A843-B710-2253-5690-22DB36B5E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Introduce research topic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ADF0E-014C-3E25-DA78-D39C100BD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Start with: </a:t>
            </a:r>
            <a:r>
              <a:rPr lang="en-US" dirty="0"/>
              <a:t>establishing </a:t>
            </a:r>
            <a:r>
              <a:rPr lang="en-US" b="1" dirty="0"/>
              <a:t>background context for audience (</a:t>
            </a:r>
            <a:r>
              <a:rPr lang="en-US" b="1" dirty="0" err="1"/>
              <a:t>e.g</a:t>
            </a:r>
            <a:r>
              <a:rPr lang="en-US" b="1" dirty="0"/>
              <a:t> readers)</a:t>
            </a:r>
            <a:r>
              <a:rPr lang="en-US" b="1" baseline="30000" dirty="0"/>
              <a:t>3</a:t>
            </a:r>
            <a:endParaRPr lang="en-US" baseline="30000" dirty="0"/>
          </a:p>
          <a:p>
            <a:r>
              <a:rPr lang="en-US" dirty="0"/>
              <a:t>Seek to establish or elaborate on </a:t>
            </a:r>
            <a:r>
              <a:rPr lang="en-US" i="1" dirty="0"/>
              <a:t>shared understanding of research topic </a:t>
            </a:r>
            <a:r>
              <a:rPr lang="en-US" dirty="0"/>
              <a:t>between </a:t>
            </a:r>
            <a:r>
              <a:rPr lang="en-US" b="1" dirty="0"/>
              <a:t>author</a:t>
            </a:r>
            <a:r>
              <a:rPr lang="en-US" dirty="0"/>
              <a:t> and </a:t>
            </a:r>
            <a:r>
              <a:rPr lang="en-US" b="1" dirty="0"/>
              <a:t>audience</a:t>
            </a:r>
            <a:r>
              <a:rPr lang="en-US" dirty="0"/>
              <a:t> (e.g. readers incl. colleagues within same discipline)</a:t>
            </a:r>
          </a:p>
          <a:p>
            <a:r>
              <a:rPr lang="en-US" dirty="0"/>
              <a:t>Vary by discipline but generally leverages </a:t>
            </a:r>
            <a:r>
              <a:rPr lang="en-US" i="1" dirty="0"/>
              <a:t>common knowledge </a:t>
            </a:r>
            <a:r>
              <a:rPr lang="en-US" dirty="0"/>
              <a:t>on research idea introducing it as an “ongoing academic conversation on the topic”.</a:t>
            </a:r>
          </a:p>
        </p:txBody>
      </p:sp>
    </p:spTree>
    <p:extLst>
      <p:ext uri="{BB962C8B-B14F-4D97-AF65-F5344CB8AC3E}">
        <p14:creationId xmlns:p14="http://schemas.microsoft.com/office/powerpoint/2010/main" val="1347624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4D700-2380-B451-486B-B5EF644B0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Introduce research topic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F4239-2957-1E32-FAB4-93CC29239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Transition into: </a:t>
            </a:r>
            <a:r>
              <a:rPr lang="en-US" dirty="0"/>
              <a:t>description of significance of research idea</a:t>
            </a:r>
            <a:r>
              <a:rPr lang="en-US" b="1" baseline="30000" dirty="0"/>
              <a:t>3</a:t>
            </a:r>
            <a:endParaRPr lang="en-US" baseline="30000" dirty="0"/>
          </a:p>
          <a:p>
            <a:r>
              <a:rPr lang="en-US" b="1" dirty="0"/>
              <a:t>Disrupt</a:t>
            </a:r>
            <a:r>
              <a:rPr lang="en-US" dirty="0"/>
              <a:t> establish claimed and stable context with </a:t>
            </a:r>
            <a:r>
              <a:rPr lang="en-US" b="1" dirty="0"/>
              <a:t>destabilizing condition</a:t>
            </a:r>
            <a:r>
              <a:rPr lang="en-US" dirty="0"/>
              <a:t>.</a:t>
            </a:r>
            <a:r>
              <a:rPr lang="en-US" baseline="30000" dirty="0"/>
              <a:t>3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Common ground + disrupting problem</a:t>
            </a:r>
            <a:r>
              <a:rPr lang="en-US" baseline="30000" dirty="0"/>
              <a:t>3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Established knowledge + existing misunderstanding or incomplete knowledge area</a:t>
            </a:r>
            <a:r>
              <a:rPr lang="en-US" baseline="30000" dirty="0"/>
              <a:t>3</a:t>
            </a:r>
          </a:p>
          <a:p>
            <a:r>
              <a:rPr lang="en-US" dirty="0"/>
              <a:t>A few additional supporting details may be sandwiched in between introduction of relevant topic and significance of topic as it relates to your study (i.e. area of incomplete knowledge) </a:t>
            </a:r>
          </a:p>
        </p:txBody>
      </p:sp>
    </p:spTree>
    <p:extLst>
      <p:ext uri="{BB962C8B-B14F-4D97-AF65-F5344CB8AC3E}">
        <p14:creationId xmlns:p14="http://schemas.microsoft.com/office/powerpoint/2010/main" val="580720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CBFCD-4012-DBBB-8B48-54FE5B8F7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Introduce Research Question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1BD2F-CAF7-C0AC-FAC7-7C51F06A9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Start with: </a:t>
            </a:r>
            <a:r>
              <a:rPr lang="en-US" dirty="0"/>
              <a:t>stating problem resulting results from </a:t>
            </a:r>
            <a:r>
              <a:rPr lang="en-US" b="1" dirty="0"/>
              <a:t>identified gap, limitation or shortcoming from research on topic introduced</a:t>
            </a:r>
            <a:r>
              <a:rPr lang="en-US" b="1" baseline="30000" dirty="0"/>
              <a:t>2</a:t>
            </a:r>
            <a:r>
              <a:rPr lang="en-US" b="1" dirty="0"/>
              <a:t> </a:t>
            </a:r>
          </a:p>
          <a:p>
            <a:r>
              <a:rPr lang="en-US" dirty="0"/>
              <a:t>Problem</a:t>
            </a:r>
            <a:r>
              <a:rPr lang="en-US" b="1" dirty="0"/>
              <a:t> </a:t>
            </a:r>
            <a:r>
              <a:rPr lang="en-US" dirty="0"/>
              <a:t>has two components</a:t>
            </a:r>
            <a:r>
              <a:rPr lang="en-US" b="1" dirty="0"/>
              <a:t>: </a:t>
            </a:r>
            <a:r>
              <a:rPr lang="en-US" dirty="0"/>
              <a:t>description on condition and consequences. </a:t>
            </a:r>
          </a:p>
          <a:p>
            <a:pPr lvl="1"/>
            <a:r>
              <a:rPr lang="en-US" dirty="0"/>
              <a:t>Condition: helps to establish niche research area of research question in which you’re your research study is situated and context of incomplete knowledge</a:t>
            </a:r>
            <a:r>
              <a:rPr lang="en-US" baseline="30000" dirty="0"/>
              <a:t>3</a:t>
            </a:r>
            <a:endParaRPr lang="en-US" dirty="0"/>
          </a:p>
          <a:p>
            <a:pPr lvl="1"/>
            <a:r>
              <a:rPr lang="en-US" dirty="0"/>
              <a:t>Consequences: answers and addresses consequence of limited knowledge and supports need for further research</a:t>
            </a:r>
            <a:r>
              <a:rPr lang="en-US" baseline="30000" dirty="0"/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240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06C26-7195-CAED-455D-FE809095E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BCCBA-EBE5-E6F0-BC9C-5B4078B8E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Introduce Research Question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E1C25-4DD8-375E-01B2-F953D2FA9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Transition into: </a:t>
            </a:r>
            <a:r>
              <a:rPr lang="en-US" dirty="0"/>
              <a:t>elaboration on condition and consequences elements of problem raised with existing literature related to the problem</a:t>
            </a:r>
            <a:r>
              <a:rPr lang="en-US" baseline="30000" dirty="0"/>
              <a:t>2</a:t>
            </a:r>
            <a:r>
              <a:rPr lang="en-US" dirty="0"/>
              <a:t> </a:t>
            </a:r>
          </a:p>
          <a:p>
            <a:pPr lvl="1"/>
            <a:r>
              <a:rPr lang="en-US" sz="1800" b="1" dirty="0"/>
              <a:t>Do: </a:t>
            </a:r>
            <a:r>
              <a:rPr lang="en-US" sz="1800" dirty="0"/>
              <a:t>survey existing literature and incorporate supporting findings as well as highlight limitations or gaps of existing literature</a:t>
            </a:r>
            <a:r>
              <a:rPr lang="en-US" sz="1800" baseline="30000" dirty="0"/>
              <a:t>3</a:t>
            </a:r>
            <a:r>
              <a:rPr lang="en-US" sz="1800" dirty="0"/>
              <a:t> </a:t>
            </a:r>
          </a:p>
          <a:p>
            <a:pPr lvl="1"/>
            <a:r>
              <a:rPr lang="en-US" sz="1800" b="1" dirty="0"/>
              <a:t>Do not: </a:t>
            </a:r>
            <a:r>
              <a:rPr lang="en-US" sz="1800" dirty="0"/>
              <a:t>try to incorporate every existing study and finding, or incorporate findings that distract from elements of research scope</a:t>
            </a:r>
            <a:r>
              <a:rPr lang="en-US" sz="1800" baseline="30000" dirty="0"/>
              <a:t>3</a:t>
            </a:r>
            <a:r>
              <a:rPr lang="en-US" sz="1800" dirty="0"/>
              <a:t> </a:t>
            </a:r>
          </a:p>
          <a:p>
            <a:r>
              <a:rPr lang="en-US" sz="2000" dirty="0"/>
              <a:t>Aim to conclude with description of knowledge gap to support final section introducing research scope</a:t>
            </a:r>
          </a:p>
        </p:txBody>
      </p:sp>
    </p:spTree>
    <p:extLst>
      <p:ext uri="{BB962C8B-B14F-4D97-AF65-F5344CB8AC3E}">
        <p14:creationId xmlns:p14="http://schemas.microsoft.com/office/powerpoint/2010/main" val="3435144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EA582-9EF7-7CEC-A979-96AC9C259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AC6E0-9113-BF83-9470-63151CBD6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Introduce Research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2F308-0DDB-FFEE-0547-28DE20B00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Start with: </a:t>
            </a:r>
            <a:r>
              <a:rPr lang="en-US" dirty="0"/>
              <a:t>outlining steps taken to respond to identified knowledge gap previously identified. </a:t>
            </a:r>
            <a:r>
              <a:rPr lang="en-US" baseline="30000" dirty="0"/>
              <a:t>2</a:t>
            </a:r>
          </a:p>
          <a:p>
            <a:r>
              <a:rPr lang="en-US" dirty="0"/>
              <a:t>Conceptualized as the response and/or promised solution</a:t>
            </a:r>
            <a:r>
              <a:rPr lang="en-US" baseline="30000" dirty="0"/>
              <a:t>3</a:t>
            </a:r>
            <a:r>
              <a:rPr lang="en-US" dirty="0"/>
              <a:t> to issues raised via research study and new knowledge. </a:t>
            </a:r>
          </a:p>
          <a:p>
            <a:r>
              <a:rPr lang="en-US" dirty="0"/>
              <a:t>May be helpful to introduce innovation. of research idea or continuation of established work from research team. </a:t>
            </a:r>
          </a:p>
          <a:p>
            <a:pPr marL="0" indent="0">
              <a:buNone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626922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B9C5E-588D-EBC6-AAC9-E3F577227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8B9DC-2074-D61A-1A84-D33DB54DC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Introduce Research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E454E-18A2-6052-0ABF-A99A5C161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Transition into: </a:t>
            </a:r>
            <a:r>
              <a:rPr lang="en-US" dirty="0">
                <a:solidFill>
                  <a:schemeClr val="tx1"/>
                </a:solidFill>
              </a:rPr>
              <a:t>providing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details to support methods and results section </a:t>
            </a:r>
            <a:endParaRPr lang="en-US" baseline="30000" dirty="0">
              <a:solidFill>
                <a:schemeClr val="tx1"/>
              </a:solidFill>
            </a:endParaRPr>
          </a:p>
          <a:p>
            <a:r>
              <a:rPr lang="en-US" dirty="0"/>
              <a:t>Explicitly state research question, aims, hypothesis and other relevant areas of research scope (</a:t>
            </a:r>
            <a:r>
              <a:rPr lang="en-US" dirty="0" err="1"/>
              <a:t>e.g</a:t>
            </a:r>
            <a:r>
              <a:rPr lang="en-US" dirty="0"/>
              <a:t> study population</a:t>
            </a:r>
            <a:r>
              <a:rPr lang="en-US" baseline="30000" dirty="0"/>
              <a:t>)1.</a:t>
            </a:r>
            <a:r>
              <a:rPr lang="en-US" dirty="0"/>
              <a:t> </a:t>
            </a:r>
          </a:p>
          <a:p>
            <a:r>
              <a:rPr lang="en-US" dirty="0"/>
              <a:t>Keep language consistent with elements of research study design and overall objective. </a:t>
            </a:r>
          </a:p>
          <a:p>
            <a:pPr lvl="1"/>
            <a:r>
              <a:rPr lang="en-US" dirty="0"/>
              <a:t>E.g. study population, exposure classification and definition, description of outcome</a:t>
            </a:r>
          </a:p>
          <a:p>
            <a:pPr lvl="1"/>
            <a:r>
              <a:rPr lang="en-US" dirty="0"/>
              <a:t>Do not overstate goals of study that are not consistent with study design. 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012766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AB49C-212B-7D8D-BAB7-1CE993988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8FC8B-7E94-F02A-0A7F-A117C55336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Utilize existing literature from peer reviewed sources as supporting details needed for all components</a:t>
            </a:r>
            <a:r>
              <a:rPr lang="en-US" baseline="30000" dirty="0"/>
              <a:t>1</a:t>
            </a:r>
            <a:r>
              <a:rPr lang="en-US" dirty="0"/>
              <a:t> </a:t>
            </a:r>
          </a:p>
          <a:p>
            <a:r>
              <a:rPr lang="en-US" dirty="0"/>
              <a:t>Try to keep definition of key variables consistent with conceptual and theoretical application in research study</a:t>
            </a:r>
            <a:r>
              <a:rPr lang="en-US" baseline="30000" dirty="0"/>
              <a:t>1</a:t>
            </a:r>
            <a:r>
              <a:rPr lang="en-US" dirty="0"/>
              <a:t> </a:t>
            </a:r>
          </a:p>
          <a:p>
            <a:r>
              <a:rPr lang="en-US" dirty="0"/>
              <a:t>Investigate introductions in discipline to see how they are organized, similarities and differences across approaches</a:t>
            </a:r>
            <a:r>
              <a:rPr lang="en-US" baseline="30000" dirty="0"/>
              <a:t>2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Utilize reputable journals within discipline as well as existing author guidelines for journals of interest</a:t>
            </a:r>
            <a:r>
              <a:rPr lang="en-US" baseline="30000" dirty="0"/>
              <a:t>2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168383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196</TotalTime>
  <Words>755</Words>
  <Application>Microsoft Macintosh PowerPoint</Application>
  <PresentationFormat>Widescreen</PresentationFormat>
  <Paragraphs>59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Gill Sans MT</vt:lpstr>
      <vt:lpstr>Wingdings</vt:lpstr>
      <vt:lpstr>Parcel</vt:lpstr>
      <vt:lpstr>Introduction </vt:lpstr>
      <vt:lpstr>Goal  </vt:lpstr>
      <vt:lpstr>Goal  </vt:lpstr>
      <vt:lpstr>Structure </vt:lpstr>
      <vt:lpstr>Structure </vt:lpstr>
      <vt:lpstr>Introduce research topic</vt:lpstr>
      <vt:lpstr>Introduce research topic</vt:lpstr>
      <vt:lpstr>Introduce Research Question </vt:lpstr>
      <vt:lpstr>Introduce Research Question </vt:lpstr>
      <vt:lpstr>Introduce Research Scope</vt:lpstr>
      <vt:lpstr>Introduce Research Scope</vt:lpstr>
      <vt:lpstr>General Tips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Nickelberry, Marshae</dc:creator>
  <cp:lastModifiedBy>Nickelberry, Marshae</cp:lastModifiedBy>
  <cp:revision>2</cp:revision>
  <dcterms:created xsi:type="dcterms:W3CDTF">2025-12-12T13:57:24Z</dcterms:created>
  <dcterms:modified xsi:type="dcterms:W3CDTF">2026-01-16T15:40:58Z</dcterms:modified>
</cp:coreProperties>
</file>