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81"/>
  </p:normalViewPr>
  <p:slideViewPr>
    <p:cSldViewPr snapToGrid="0">
      <p:cViewPr varScale="1">
        <p:scale>
          <a:sx n="116" d="100"/>
          <a:sy n="116" d="100"/>
        </p:scale>
        <p:origin x="60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12/19/25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12/19/25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12/19/25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12/19/25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12/19/25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12/19/25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12/19/25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12/19/25</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12/19/25</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12/19/25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12/19/25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12/19/25</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D490E-2C97-33A5-9DF4-8B191483E974}"/>
              </a:ext>
            </a:extLst>
          </p:cNvPr>
          <p:cNvSpPr>
            <a:spLocks noGrp="1"/>
          </p:cNvSpPr>
          <p:nvPr>
            <p:ph type="ctrTitle"/>
          </p:nvPr>
        </p:nvSpPr>
        <p:spPr/>
        <p:txBody>
          <a:bodyPr/>
          <a:lstStyle/>
          <a:p>
            <a:r>
              <a:rPr lang="en-US" dirty="0"/>
              <a:t>Results</a:t>
            </a:r>
          </a:p>
        </p:txBody>
      </p:sp>
      <p:sp>
        <p:nvSpPr>
          <p:cNvPr id="3" name="Subtitle 2">
            <a:extLst>
              <a:ext uri="{FF2B5EF4-FFF2-40B4-BE49-F238E27FC236}">
                <a16:creationId xmlns:a16="http://schemas.microsoft.com/office/drawing/2014/main" id="{C16E5D92-8996-36EF-AE77-4459F8E8D3D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60359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29B87-6623-1F90-16D6-9EE29AB5120B}"/>
              </a:ext>
            </a:extLst>
          </p:cNvPr>
          <p:cNvSpPr>
            <a:spLocks noGrp="1"/>
          </p:cNvSpPr>
          <p:nvPr>
            <p:ph type="title"/>
          </p:nvPr>
        </p:nvSpPr>
        <p:spPr/>
        <p:txBody>
          <a:bodyPr/>
          <a:lstStyle/>
          <a:p>
            <a:r>
              <a:rPr lang="en-US" dirty="0"/>
              <a:t>Goal  </a:t>
            </a:r>
          </a:p>
        </p:txBody>
      </p:sp>
      <p:sp>
        <p:nvSpPr>
          <p:cNvPr id="3" name="Content Placeholder 2">
            <a:extLst>
              <a:ext uri="{FF2B5EF4-FFF2-40B4-BE49-F238E27FC236}">
                <a16:creationId xmlns:a16="http://schemas.microsoft.com/office/drawing/2014/main" id="{E38998A9-1EFF-5BE6-AA00-EC05256F5A58}"/>
              </a:ext>
            </a:extLst>
          </p:cNvPr>
          <p:cNvSpPr>
            <a:spLocks noGrp="1"/>
          </p:cNvSpPr>
          <p:nvPr>
            <p:ph idx="1"/>
          </p:nvPr>
        </p:nvSpPr>
        <p:spPr/>
        <p:txBody>
          <a:bodyPr/>
          <a:lstStyle/>
          <a:p>
            <a:r>
              <a:rPr lang="en-US" dirty="0"/>
              <a:t>Report findings of study in context of primary research question </a:t>
            </a:r>
          </a:p>
          <a:p>
            <a:r>
              <a:rPr lang="en-US" dirty="0"/>
              <a:t>Presented in logical sequence without bias or interpretation </a:t>
            </a:r>
          </a:p>
          <a:p>
            <a:r>
              <a:rPr lang="en-US" dirty="0"/>
              <a:t>Effective results section presents findings by solely stating facts </a:t>
            </a:r>
          </a:p>
          <a:p>
            <a:pPr lvl="1"/>
            <a:r>
              <a:rPr lang="en-US" dirty="0"/>
              <a:t>Reserves interpretation for discussion section </a:t>
            </a:r>
          </a:p>
        </p:txBody>
      </p:sp>
    </p:spTree>
    <p:extLst>
      <p:ext uri="{BB962C8B-B14F-4D97-AF65-F5344CB8AC3E}">
        <p14:creationId xmlns:p14="http://schemas.microsoft.com/office/powerpoint/2010/main" val="2369420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A8E1C-EC7A-0ACC-EDA1-783E182430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17873F-7A42-56A3-11F7-4CB6BB84BDB6}"/>
              </a:ext>
            </a:extLst>
          </p:cNvPr>
          <p:cNvSpPr>
            <a:spLocks noGrp="1"/>
          </p:cNvSpPr>
          <p:nvPr>
            <p:ph type="title"/>
          </p:nvPr>
        </p:nvSpPr>
        <p:spPr/>
        <p:txBody>
          <a:bodyPr/>
          <a:lstStyle/>
          <a:p>
            <a:r>
              <a:rPr lang="en-US" dirty="0"/>
              <a:t>Goal  </a:t>
            </a:r>
          </a:p>
        </p:txBody>
      </p:sp>
      <p:sp>
        <p:nvSpPr>
          <p:cNvPr id="3" name="Content Placeholder 2">
            <a:extLst>
              <a:ext uri="{FF2B5EF4-FFF2-40B4-BE49-F238E27FC236}">
                <a16:creationId xmlns:a16="http://schemas.microsoft.com/office/drawing/2014/main" id="{B7DD9A2B-1C90-B02F-2AD1-0700F6296B36}"/>
              </a:ext>
            </a:extLst>
          </p:cNvPr>
          <p:cNvSpPr>
            <a:spLocks noGrp="1"/>
          </p:cNvSpPr>
          <p:nvPr>
            <p:ph idx="1"/>
          </p:nvPr>
        </p:nvSpPr>
        <p:spPr/>
        <p:txBody>
          <a:bodyPr/>
          <a:lstStyle/>
          <a:p>
            <a:r>
              <a:rPr lang="en-US" dirty="0"/>
              <a:t>Factual statements supported by evidence. Short and sweet without excess words</a:t>
            </a:r>
          </a:p>
          <a:p>
            <a:r>
              <a:rPr lang="en-US" dirty="0"/>
              <a:t>Present representative data rather than endlessly repetitive data</a:t>
            </a:r>
          </a:p>
          <a:p>
            <a:r>
              <a:rPr lang="en-US" dirty="0"/>
              <a:t>Discuss variables only if they had an effect (positive or negative)</a:t>
            </a:r>
          </a:p>
          <a:p>
            <a:r>
              <a:rPr lang="en-US" dirty="0"/>
              <a:t>Use meaningful statistics</a:t>
            </a:r>
          </a:p>
          <a:p>
            <a:r>
              <a:rPr lang="en-US" dirty="0"/>
              <a:t>Avoid redundancy. If it is in the tables or captions you may not need to repeat it</a:t>
            </a:r>
          </a:p>
        </p:txBody>
      </p:sp>
    </p:spTree>
    <p:extLst>
      <p:ext uri="{BB962C8B-B14F-4D97-AF65-F5344CB8AC3E}">
        <p14:creationId xmlns:p14="http://schemas.microsoft.com/office/powerpoint/2010/main" val="44795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D3C30-B7DE-68A2-41C1-8C5FB9AA2D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646216-4B21-BE97-C0C5-0A0448CC1BAF}"/>
              </a:ext>
            </a:extLst>
          </p:cNvPr>
          <p:cNvSpPr>
            <a:spLocks noGrp="1"/>
          </p:cNvSpPr>
          <p:nvPr>
            <p:ph type="title"/>
          </p:nvPr>
        </p:nvSpPr>
        <p:spPr/>
        <p:txBody>
          <a:bodyPr/>
          <a:lstStyle/>
          <a:p>
            <a:r>
              <a:rPr lang="en-US" dirty="0"/>
              <a:t>Structure </a:t>
            </a:r>
          </a:p>
        </p:txBody>
      </p:sp>
      <p:sp>
        <p:nvSpPr>
          <p:cNvPr id="3" name="Content Placeholder 2">
            <a:extLst>
              <a:ext uri="{FF2B5EF4-FFF2-40B4-BE49-F238E27FC236}">
                <a16:creationId xmlns:a16="http://schemas.microsoft.com/office/drawing/2014/main" id="{659D29BF-F008-C268-EF6F-67ED3C36E9FA}"/>
              </a:ext>
            </a:extLst>
          </p:cNvPr>
          <p:cNvSpPr>
            <a:spLocks noGrp="1"/>
          </p:cNvSpPr>
          <p:nvPr>
            <p:ph idx="1"/>
          </p:nvPr>
        </p:nvSpPr>
        <p:spPr/>
        <p:txBody>
          <a:bodyPr/>
          <a:lstStyle/>
          <a:p>
            <a:r>
              <a:rPr lang="en-US" dirty="0"/>
              <a:t>Present results in logical order prioritizing presentation in order of complexity </a:t>
            </a:r>
          </a:p>
          <a:p>
            <a:pPr lvl="1"/>
            <a:r>
              <a:rPr lang="en-US" dirty="0"/>
              <a:t>Univariate</a:t>
            </a:r>
            <a:r>
              <a:rPr lang="en-US" dirty="0">
                <a:sym typeface="Wingdings" pitchFamily="2" charset="2"/>
              </a:rPr>
              <a:t> Bivariate </a:t>
            </a:r>
            <a:r>
              <a:rPr lang="en-US" dirty="0" err="1">
                <a:sym typeface="Wingdings" pitchFamily="2" charset="2"/>
              </a:rPr>
              <a:t>MultivariateHigher</a:t>
            </a:r>
            <a:r>
              <a:rPr lang="en-US" dirty="0">
                <a:sym typeface="Wingdings" pitchFamily="2" charset="2"/>
              </a:rPr>
              <a:t> Order </a:t>
            </a:r>
          </a:p>
          <a:p>
            <a:pPr lvl="1"/>
            <a:r>
              <a:rPr lang="en-US" dirty="0">
                <a:sym typeface="Wingdings" pitchFamily="2" charset="2"/>
              </a:rPr>
              <a:t>Note that logical order may sometimes deviate from chronological order </a:t>
            </a:r>
          </a:p>
          <a:p>
            <a:pPr lvl="1"/>
            <a:r>
              <a:rPr lang="en-US" dirty="0">
                <a:sym typeface="Wingdings" pitchFamily="2" charset="2"/>
              </a:rPr>
              <a:t>Number tables and figures separately beginning with the number one. </a:t>
            </a:r>
          </a:p>
          <a:p>
            <a:pPr lvl="1"/>
            <a:r>
              <a:rPr lang="en-US" dirty="0">
                <a:sym typeface="Wingdings" pitchFamily="2" charset="2"/>
              </a:rPr>
              <a:t>Paragraphs should flow in similar manner </a:t>
            </a:r>
          </a:p>
          <a:p>
            <a:pPr lvl="2"/>
            <a:r>
              <a:rPr lang="en-US" dirty="0">
                <a:sym typeface="Wingdings" pitchFamily="2" charset="2"/>
              </a:rPr>
              <a:t>Topic sentence </a:t>
            </a:r>
          </a:p>
          <a:p>
            <a:pPr lvl="2"/>
            <a:r>
              <a:rPr lang="en-US" dirty="0">
                <a:sym typeface="Wingdings" pitchFamily="2" charset="2"/>
              </a:rPr>
              <a:t>Presentation of measure of association and measure of certainty (OR [95%CI])</a:t>
            </a:r>
          </a:p>
          <a:p>
            <a:pPr lvl="2"/>
            <a:r>
              <a:rPr lang="en-US" dirty="0">
                <a:sym typeface="Wingdings" pitchFamily="2" charset="2"/>
              </a:rPr>
              <a:t>Keep outcome with its data </a:t>
            </a:r>
          </a:p>
          <a:p>
            <a:endParaRPr lang="en-US" dirty="0"/>
          </a:p>
          <a:p>
            <a:endParaRPr lang="en-US" dirty="0"/>
          </a:p>
        </p:txBody>
      </p:sp>
    </p:spTree>
    <p:extLst>
      <p:ext uri="{BB962C8B-B14F-4D97-AF65-F5344CB8AC3E}">
        <p14:creationId xmlns:p14="http://schemas.microsoft.com/office/powerpoint/2010/main" val="2613098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4D700-2380-B451-486B-B5EF644B0D47}"/>
              </a:ext>
            </a:extLst>
          </p:cNvPr>
          <p:cNvSpPr>
            <a:spLocks noGrp="1"/>
          </p:cNvSpPr>
          <p:nvPr>
            <p:ph type="title"/>
          </p:nvPr>
        </p:nvSpPr>
        <p:spPr/>
        <p:txBody>
          <a:bodyPr/>
          <a:lstStyle/>
          <a:p>
            <a:r>
              <a:rPr lang="en-US" dirty="0"/>
              <a:t>Descriptive Analysis </a:t>
            </a:r>
          </a:p>
        </p:txBody>
      </p:sp>
      <p:sp>
        <p:nvSpPr>
          <p:cNvPr id="3" name="Content Placeholder 2">
            <a:extLst>
              <a:ext uri="{FF2B5EF4-FFF2-40B4-BE49-F238E27FC236}">
                <a16:creationId xmlns:a16="http://schemas.microsoft.com/office/drawing/2014/main" id="{0EFF4239-2957-1E32-FAB4-93CC29239CA2}"/>
              </a:ext>
            </a:extLst>
          </p:cNvPr>
          <p:cNvSpPr>
            <a:spLocks noGrp="1"/>
          </p:cNvSpPr>
          <p:nvPr>
            <p:ph idx="1"/>
          </p:nvPr>
        </p:nvSpPr>
        <p:spPr/>
        <p:txBody>
          <a:bodyPr/>
          <a:lstStyle/>
          <a:p>
            <a:r>
              <a:rPr lang="en-US" dirty="0"/>
              <a:t>”Help put study into context” </a:t>
            </a:r>
          </a:p>
          <a:p>
            <a:r>
              <a:rPr lang="en-US" dirty="0"/>
              <a:t>Seeks to describe analytic population from which you are making inferences </a:t>
            </a:r>
          </a:p>
          <a:p>
            <a:endParaRPr lang="en-US" dirty="0"/>
          </a:p>
        </p:txBody>
      </p:sp>
    </p:spTree>
    <p:extLst>
      <p:ext uri="{BB962C8B-B14F-4D97-AF65-F5344CB8AC3E}">
        <p14:creationId xmlns:p14="http://schemas.microsoft.com/office/powerpoint/2010/main" val="580720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10550-4212-1EF4-4547-CB96BDA0C1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926B3A-74D5-8EE2-4E29-69BC83D84FB0}"/>
              </a:ext>
            </a:extLst>
          </p:cNvPr>
          <p:cNvSpPr>
            <a:spLocks noGrp="1"/>
          </p:cNvSpPr>
          <p:nvPr>
            <p:ph type="title"/>
          </p:nvPr>
        </p:nvSpPr>
        <p:spPr/>
        <p:txBody>
          <a:bodyPr/>
          <a:lstStyle/>
          <a:p>
            <a:r>
              <a:rPr lang="en-US" dirty="0"/>
              <a:t>Main Analysis </a:t>
            </a:r>
          </a:p>
        </p:txBody>
      </p:sp>
      <p:sp>
        <p:nvSpPr>
          <p:cNvPr id="3" name="Content Placeholder 2">
            <a:extLst>
              <a:ext uri="{FF2B5EF4-FFF2-40B4-BE49-F238E27FC236}">
                <a16:creationId xmlns:a16="http://schemas.microsoft.com/office/drawing/2014/main" id="{74CA24F8-F23D-F580-A81A-5C76DC0AB8D6}"/>
              </a:ext>
            </a:extLst>
          </p:cNvPr>
          <p:cNvSpPr>
            <a:spLocks noGrp="1"/>
          </p:cNvSpPr>
          <p:nvPr>
            <p:ph idx="1"/>
          </p:nvPr>
        </p:nvSpPr>
        <p:spPr/>
        <p:txBody>
          <a:bodyPr/>
          <a:lstStyle/>
          <a:p>
            <a:r>
              <a:rPr lang="en-US" dirty="0"/>
              <a:t>COME Back </a:t>
            </a:r>
          </a:p>
        </p:txBody>
      </p:sp>
    </p:spTree>
    <p:extLst>
      <p:ext uri="{BB962C8B-B14F-4D97-AF65-F5344CB8AC3E}">
        <p14:creationId xmlns:p14="http://schemas.microsoft.com/office/powerpoint/2010/main" val="297363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C3C6D-C096-1B1F-65B2-01A30E50C3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DF606C-35E1-8BE6-C1DF-2C461411CEC0}"/>
              </a:ext>
            </a:extLst>
          </p:cNvPr>
          <p:cNvSpPr>
            <a:spLocks noGrp="1"/>
          </p:cNvSpPr>
          <p:nvPr>
            <p:ph type="title"/>
          </p:nvPr>
        </p:nvSpPr>
        <p:spPr/>
        <p:txBody>
          <a:bodyPr/>
          <a:lstStyle/>
          <a:p>
            <a:r>
              <a:rPr lang="en-US" dirty="0"/>
              <a:t>Secondary  Analysis </a:t>
            </a:r>
          </a:p>
        </p:txBody>
      </p:sp>
      <p:sp>
        <p:nvSpPr>
          <p:cNvPr id="3" name="Content Placeholder 2">
            <a:extLst>
              <a:ext uri="{FF2B5EF4-FFF2-40B4-BE49-F238E27FC236}">
                <a16:creationId xmlns:a16="http://schemas.microsoft.com/office/drawing/2014/main" id="{2044B23C-C143-4C4E-A061-0C35373395B9}"/>
              </a:ext>
            </a:extLst>
          </p:cNvPr>
          <p:cNvSpPr>
            <a:spLocks noGrp="1"/>
          </p:cNvSpPr>
          <p:nvPr>
            <p:ph idx="1"/>
          </p:nvPr>
        </p:nvSpPr>
        <p:spPr/>
        <p:txBody>
          <a:bodyPr/>
          <a:lstStyle/>
          <a:p>
            <a:r>
              <a:rPr lang="en-US" dirty="0"/>
              <a:t>Secondary analysis:  </a:t>
            </a:r>
          </a:p>
          <a:p>
            <a:pPr lvl="1"/>
            <a:r>
              <a:rPr lang="en-US" dirty="0"/>
              <a:t>Also sometimes referred to as sensitivity analysis.  </a:t>
            </a:r>
          </a:p>
          <a:p>
            <a:pPr lvl="1"/>
            <a:r>
              <a:rPr lang="en-US" dirty="0"/>
              <a:t>Focuses on secondary exposure, secondary outcomes or higher order models (heterogeneity, trends etc.) </a:t>
            </a:r>
          </a:p>
          <a:p>
            <a:pPr lvl="1"/>
            <a:endParaRPr lang="en-US" dirty="0"/>
          </a:p>
          <a:p>
            <a:pPr lvl="1"/>
            <a:endParaRPr lang="en-US" dirty="0"/>
          </a:p>
        </p:txBody>
      </p:sp>
    </p:spTree>
    <p:extLst>
      <p:ext uri="{BB962C8B-B14F-4D97-AF65-F5344CB8AC3E}">
        <p14:creationId xmlns:p14="http://schemas.microsoft.com/office/powerpoint/2010/main" val="297093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0A2EF-8F7F-0649-99A5-A714ED454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964B4E-F467-9523-3FD3-0C6E74D6ABE5}"/>
              </a:ext>
            </a:extLst>
          </p:cNvPr>
          <p:cNvSpPr>
            <a:spLocks noGrp="1"/>
          </p:cNvSpPr>
          <p:nvPr>
            <p:ph type="title"/>
          </p:nvPr>
        </p:nvSpPr>
        <p:spPr/>
        <p:txBody>
          <a:bodyPr/>
          <a:lstStyle/>
          <a:p>
            <a:r>
              <a:rPr lang="en-US" dirty="0"/>
              <a:t>Effect Measure Modification </a:t>
            </a:r>
          </a:p>
        </p:txBody>
      </p:sp>
      <p:sp>
        <p:nvSpPr>
          <p:cNvPr id="3" name="Content Placeholder 2">
            <a:extLst>
              <a:ext uri="{FF2B5EF4-FFF2-40B4-BE49-F238E27FC236}">
                <a16:creationId xmlns:a16="http://schemas.microsoft.com/office/drawing/2014/main" id="{65B5654B-1DBF-29D6-486C-58F3C3821593}"/>
              </a:ext>
            </a:extLst>
          </p:cNvPr>
          <p:cNvSpPr>
            <a:spLocks noGrp="1"/>
          </p:cNvSpPr>
          <p:nvPr>
            <p:ph idx="1"/>
          </p:nvPr>
        </p:nvSpPr>
        <p:spPr/>
        <p:txBody>
          <a:bodyPr/>
          <a:lstStyle/>
          <a:p>
            <a:pPr lvl="1"/>
            <a:r>
              <a:rPr lang="en-US" dirty="0"/>
              <a:t>In main analysis of the primary association (A) and primary outcome (Y) we are interested in understanding the way that the distribution of the outcome (Y) changes given the presence of the association (A) </a:t>
            </a:r>
          </a:p>
          <a:p>
            <a:pPr lvl="1"/>
            <a:r>
              <a:rPr lang="en-US" dirty="0"/>
              <a:t>In other words if we are looking at the average level of phenols at a given food security level we would say: </a:t>
            </a:r>
          </a:p>
          <a:p>
            <a:pPr lvl="8"/>
            <a:r>
              <a:rPr lang="en-US" dirty="0"/>
              <a:t>E[Y=BPA|A=Food Security]</a:t>
            </a:r>
          </a:p>
          <a:p>
            <a:pPr lvl="1"/>
            <a:r>
              <a:rPr lang="en-US" dirty="0"/>
              <a:t>If we adjust for additional variables (</a:t>
            </a:r>
            <a:r>
              <a:rPr lang="en-US" dirty="0" err="1"/>
              <a:t>i.e</a:t>
            </a:r>
            <a:r>
              <a:rPr lang="en-US" dirty="0"/>
              <a:t> confounders) we would say: </a:t>
            </a:r>
          </a:p>
          <a:p>
            <a:pPr lvl="8"/>
            <a:r>
              <a:rPr lang="en-US" dirty="0"/>
              <a:t>E[Y=BPA|A=Food Security, L=Confounders]</a:t>
            </a:r>
          </a:p>
          <a:p>
            <a:pPr lvl="2"/>
            <a:endParaRPr lang="en-US" dirty="0"/>
          </a:p>
          <a:p>
            <a:pPr lvl="1"/>
            <a:endParaRPr lang="en-US" dirty="0"/>
          </a:p>
        </p:txBody>
      </p:sp>
    </p:spTree>
    <p:extLst>
      <p:ext uri="{BB962C8B-B14F-4D97-AF65-F5344CB8AC3E}">
        <p14:creationId xmlns:p14="http://schemas.microsoft.com/office/powerpoint/2010/main" val="3132491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16287603-B7F0-638E-1925-9C3B7128218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AD2B83-6235-A78C-6AA8-54F128846567}"/>
              </a:ext>
            </a:extLst>
          </p:cNvPr>
          <p:cNvSpPr>
            <a:spLocks noGrp="1"/>
          </p:cNvSpPr>
          <p:nvPr>
            <p:ph type="title"/>
          </p:nvPr>
        </p:nvSpPr>
        <p:spPr>
          <a:xfrm>
            <a:off x="643467" y="643467"/>
            <a:ext cx="3363974" cy="1728044"/>
          </a:xfrm>
          <a:noFill/>
          <a:ln>
            <a:solidFill>
              <a:schemeClr val="bg1"/>
            </a:solidFill>
          </a:ln>
        </p:spPr>
        <p:txBody>
          <a:bodyPr wrap="square">
            <a:normAutofit/>
          </a:bodyPr>
          <a:lstStyle/>
          <a:p>
            <a:r>
              <a:rPr lang="en-US">
                <a:solidFill>
                  <a:schemeClr val="bg1"/>
                </a:solidFill>
              </a:rPr>
              <a:t>Effect Measure Modification </a:t>
            </a:r>
          </a:p>
        </p:txBody>
      </p:sp>
      <p:sp>
        <p:nvSpPr>
          <p:cNvPr id="3" name="Content Placeholder 2">
            <a:extLst>
              <a:ext uri="{FF2B5EF4-FFF2-40B4-BE49-F238E27FC236}">
                <a16:creationId xmlns:a16="http://schemas.microsoft.com/office/drawing/2014/main" id="{2F0223E3-BD9C-1A8B-8EF7-5B2F2C479974}"/>
              </a:ext>
            </a:extLst>
          </p:cNvPr>
          <p:cNvSpPr>
            <a:spLocks noGrp="1"/>
          </p:cNvSpPr>
          <p:nvPr>
            <p:ph idx="1"/>
          </p:nvPr>
        </p:nvSpPr>
        <p:spPr>
          <a:xfrm>
            <a:off x="643467" y="2638044"/>
            <a:ext cx="3683205" cy="3415622"/>
          </a:xfrm>
        </p:spPr>
        <p:txBody>
          <a:bodyPr>
            <a:normAutofit/>
          </a:bodyPr>
          <a:lstStyle/>
          <a:p>
            <a:pPr lvl="1"/>
            <a:r>
              <a:rPr lang="en-US" dirty="0">
                <a:solidFill>
                  <a:schemeClr val="bg1"/>
                </a:solidFill>
              </a:rPr>
              <a:t>As we discussed we would interpret this as the expected value of phenols, given a changing level of food security is a given number,  x ng/mL</a:t>
            </a:r>
          </a:p>
          <a:p>
            <a:pPr lvl="1"/>
            <a:r>
              <a:rPr lang="en-US" dirty="0">
                <a:solidFill>
                  <a:schemeClr val="bg1"/>
                </a:solidFill>
              </a:rPr>
              <a:t>In the case of a categorical variable, we would compare each respective estimated level to the reference value </a:t>
            </a:r>
          </a:p>
          <a:p>
            <a:pPr lvl="2"/>
            <a:endParaRPr lang="en-US" dirty="0">
              <a:solidFill>
                <a:schemeClr val="bg1"/>
              </a:solidFill>
            </a:endParaRPr>
          </a:p>
          <a:p>
            <a:pPr lvl="1"/>
            <a:endParaRPr lang="en-US" dirty="0">
              <a:solidFill>
                <a:schemeClr val="bg1"/>
              </a:solidFill>
            </a:endParaRPr>
          </a:p>
        </p:txBody>
      </p:sp>
      <p:pic>
        <p:nvPicPr>
          <p:cNvPr id="4" name="Picture 3" descr="A screenshot of a table&#10;&#10;AI-generated content may be incorrect.">
            <a:extLst>
              <a:ext uri="{FF2B5EF4-FFF2-40B4-BE49-F238E27FC236}">
                <a16:creationId xmlns:a16="http://schemas.microsoft.com/office/drawing/2014/main" id="{33B5FC49-7D71-7C4F-AFC8-A7FBE2AF7760}"/>
              </a:ext>
            </a:extLst>
          </p:cNvPr>
          <p:cNvPicPr>
            <a:picLocks noChangeAspect="1"/>
          </p:cNvPicPr>
          <p:nvPr/>
        </p:nvPicPr>
        <p:blipFill>
          <a:blip r:embed="rId2"/>
          <a:stretch>
            <a:fillRect/>
          </a:stretch>
        </p:blipFill>
        <p:spPr>
          <a:xfrm>
            <a:off x="6286119" y="643467"/>
            <a:ext cx="4274056" cy="5410199"/>
          </a:xfrm>
          <a:prstGeom prst="rect">
            <a:avLst/>
          </a:prstGeom>
        </p:spPr>
      </p:pic>
      <p:sp>
        <p:nvSpPr>
          <p:cNvPr id="8" name="Rectangle 7">
            <a:extLst>
              <a:ext uri="{FF2B5EF4-FFF2-40B4-BE49-F238E27FC236}">
                <a16:creationId xmlns:a16="http://schemas.microsoft.com/office/drawing/2014/main" id="{CD72FE55-F14A-C043-C7D2-EEFB8C7D08A7}"/>
              </a:ext>
            </a:extLst>
          </p:cNvPr>
          <p:cNvSpPr/>
          <p:nvPr/>
        </p:nvSpPr>
        <p:spPr>
          <a:xfrm>
            <a:off x="6286119" y="1081668"/>
            <a:ext cx="4419052" cy="713678"/>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0111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FA8D4-372E-CBC7-4E34-471A9EF497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4C2042-6BA0-292A-2BD8-5D83F557AC62}"/>
              </a:ext>
            </a:extLst>
          </p:cNvPr>
          <p:cNvSpPr>
            <a:spLocks noGrp="1"/>
          </p:cNvSpPr>
          <p:nvPr>
            <p:ph type="title"/>
          </p:nvPr>
        </p:nvSpPr>
        <p:spPr/>
        <p:txBody>
          <a:bodyPr/>
          <a:lstStyle/>
          <a:p>
            <a:r>
              <a:rPr lang="en-US" dirty="0"/>
              <a:t>Effect Measure Modification </a:t>
            </a:r>
          </a:p>
        </p:txBody>
      </p:sp>
      <p:sp>
        <p:nvSpPr>
          <p:cNvPr id="3" name="Content Placeholder 2">
            <a:extLst>
              <a:ext uri="{FF2B5EF4-FFF2-40B4-BE49-F238E27FC236}">
                <a16:creationId xmlns:a16="http://schemas.microsoft.com/office/drawing/2014/main" id="{EF9B642D-957F-AD50-3CF5-59788903DF36}"/>
              </a:ext>
            </a:extLst>
          </p:cNvPr>
          <p:cNvSpPr>
            <a:spLocks noGrp="1"/>
          </p:cNvSpPr>
          <p:nvPr>
            <p:ph idx="1"/>
          </p:nvPr>
        </p:nvSpPr>
        <p:spPr/>
        <p:txBody>
          <a:bodyPr>
            <a:normAutofit/>
          </a:bodyPr>
          <a:lstStyle/>
          <a:p>
            <a:pPr lvl="1"/>
            <a:r>
              <a:rPr lang="en-US" dirty="0"/>
              <a:t>When we are dealing with effect measure modification we want to look at the marginal association (that which we estimate in the </a:t>
            </a:r>
            <a:r>
              <a:rPr lang="en-US" b="1" dirty="0"/>
              <a:t>entire population</a:t>
            </a:r>
            <a:r>
              <a:rPr lang="en-US" dirty="0"/>
              <a:t>) within subgroups of a variable we believe that association may be stronger or weaker </a:t>
            </a:r>
          </a:p>
          <a:p>
            <a:pPr lvl="1"/>
            <a:r>
              <a:rPr lang="en-US" dirty="0"/>
              <a:t>We refer to this as an effect modifier. </a:t>
            </a:r>
          </a:p>
          <a:p>
            <a:pPr lvl="2"/>
            <a:r>
              <a:rPr lang="en-US" dirty="0"/>
              <a:t>That is that the effect of an exposure,  A on the outcome,  Y, is modified by X (effect measure modifier) </a:t>
            </a:r>
          </a:p>
          <a:p>
            <a:pPr lvl="2"/>
            <a:r>
              <a:rPr lang="en-US" dirty="0"/>
              <a:t>In the presence of effect measure modification (EMM) the </a:t>
            </a:r>
            <a:r>
              <a:rPr lang="en-US" b="1" dirty="0"/>
              <a:t>magnitude</a:t>
            </a:r>
            <a:r>
              <a:rPr lang="en-US" dirty="0"/>
              <a:t> of the association can vary across levels of that variable</a:t>
            </a:r>
          </a:p>
          <a:p>
            <a:pPr lvl="3"/>
            <a:r>
              <a:rPr lang="en-US" dirty="0"/>
              <a:t>Ex: Sex (female, male) </a:t>
            </a:r>
          </a:p>
          <a:p>
            <a:pPr lvl="1"/>
            <a:endParaRPr lang="en-US" dirty="0"/>
          </a:p>
        </p:txBody>
      </p:sp>
    </p:spTree>
    <p:extLst>
      <p:ext uri="{BB962C8B-B14F-4D97-AF65-F5344CB8AC3E}">
        <p14:creationId xmlns:p14="http://schemas.microsoft.com/office/powerpoint/2010/main" val="1219570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D9C4C-8ECC-038E-7525-F3CE1A7BF6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A899D8-13EB-E054-66E5-F5E757A5089F}"/>
              </a:ext>
            </a:extLst>
          </p:cNvPr>
          <p:cNvSpPr>
            <a:spLocks noGrp="1"/>
          </p:cNvSpPr>
          <p:nvPr>
            <p:ph type="title"/>
          </p:nvPr>
        </p:nvSpPr>
        <p:spPr/>
        <p:txBody>
          <a:bodyPr/>
          <a:lstStyle/>
          <a:p>
            <a:r>
              <a:rPr lang="en-US" dirty="0"/>
              <a:t>Effect Measure Modification </a:t>
            </a:r>
          </a:p>
        </p:txBody>
      </p:sp>
      <p:sp>
        <p:nvSpPr>
          <p:cNvPr id="3" name="Content Placeholder 2">
            <a:extLst>
              <a:ext uri="{FF2B5EF4-FFF2-40B4-BE49-F238E27FC236}">
                <a16:creationId xmlns:a16="http://schemas.microsoft.com/office/drawing/2014/main" id="{9D76006D-3FAB-7310-1FC7-F3CBEB6467F1}"/>
              </a:ext>
            </a:extLst>
          </p:cNvPr>
          <p:cNvSpPr>
            <a:spLocks noGrp="1"/>
          </p:cNvSpPr>
          <p:nvPr>
            <p:ph idx="1"/>
          </p:nvPr>
        </p:nvSpPr>
        <p:spPr/>
        <p:txBody>
          <a:bodyPr>
            <a:normAutofit/>
          </a:bodyPr>
          <a:lstStyle/>
          <a:p>
            <a:pPr lvl="1"/>
            <a:r>
              <a:rPr lang="en-US" dirty="0"/>
              <a:t>EMM is an intrinsic phenomenon we cannot and do not seek to eliminate </a:t>
            </a:r>
          </a:p>
          <a:p>
            <a:pPr lvl="1"/>
            <a:r>
              <a:rPr lang="en-US" dirty="0"/>
              <a:t>In other words EMM is not an internal validity issue (</a:t>
            </a:r>
            <a:r>
              <a:rPr lang="en-US" dirty="0" err="1"/>
              <a:t>i.e</a:t>
            </a:r>
            <a:r>
              <a:rPr lang="en-US" dirty="0"/>
              <a:t> bias such as confounding or selection bias) </a:t>
            </a:r>
          </a:p>
          <a:p>
            <a:pPr lvl="2"/>
            <a:r>
              <a:rPr lang="en-US" dirty="0"/>
              <a:t>It is an external validity factor (</a:t>
            </a:r>
            <a:r>
              <a:rPr lang="en-US" dirty="0" err="1"/>
              <a:t>i.e</a:t>
            </a:r>
            <a:r>
              <a:rPr lang="en-US" dirty="0"/>
              <a:t> generalizability) </a:t>
            </a:r>
          </a:p>
          <a:p>
            <a:pPr lvl="2"/>
            <a:r>
              <a:rPr lang="en-US" dirty="0"/>
              <a:t>Again it is distinct from confounding,  although both ultimately become variables we adjust for but for different reasons</a:t>
            </a:r>
          </a:p>
        </p:txBody>
      </p:sp>
    </p:spTree>
    <p:extLst>
      <p:ext uri="{BB962C8B-B14F-4D97-AF65-F5344CB8AC3E}">
        <p14:creationId xmlns:p14="http://schemas.microsoft.com/office/powerpoint/2010/main" val="3018051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70894-8311-0D20-E7CA-799680A052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FE10CA-8E38-41E7-E20F-BE0CE19B061B}"/>
              </a:ext>
            </a:extLst>
          </p:cNvPr>
          <p:cNvSpPr>
            <a:spLocks noGrp="1"/>
          </p:cNvSpPr>
          <p:nvPr>
            <p:ph type="title"/>
          </p:nvPr>
        </p:nvSpPr>
        <p:spPr/>
        <p:txBody>
          <a:bodyPr/>
          <a:lstStyle/>
          <a:p>
            <a:r>
              <a:rPr lang="en-US" dirty="0"/>
              <a:t>Effect Measure Modification </a:t>
            </a:r>
          </a:p>
        </p:txBody>
      </p:sp>
      <p:sp>
        <p:nvSpPr>
          <p:cNvPr id="3" name="Content Placeholder 2">
            <a:extLst>
              <a:ext uri="{FF2B5EF4-FFF2-40B4-BE49-F238E27FC236}">
                <a16:creationId xmlns:a16="http://schemas.microsoft.com/office/drawing/2014/main" id="{CE156A72-58E9-0808-9DF5-36AFA83409C8}"/>
              </a:ext>
            </a:extLst>
          </p:cNvPr>
          <p:cNvSpPr>
            <a:spLocks noGrp="1"/>
          </p:cNvSpPr>
          <p:nvPr>
            <p:ph idx="1"/>
          </p:nvPr>
        </p:nvSpPr>
        <p:spPr/>
        <p:txBody>
          <a:bodyPr>
            <a:normAutofit/>
          </a:bodyPr>
          <a:lstStyle/>
          <a:p>
            <a:pPr lvl="1"/>
            <a:r>
              <a:rPr lang="en-US"/>
              <a:t>EMM is an intrinsic phenomenon we cannot and do not seek to eliminate </a:t>
            </a:r>
          </a:p>
          <a:p>
            <a:pPr lvl="1"/>
            <a:r>
              <a:rPr lang="en-US"/>
              <a:t>In other words EMM is not an internal validity issue (i.e bias such as confounding or selection bias) </a:t>
            </a:r>
          </a:p>
          <a:p>
            <a:pPr lvl="2"/>
            <a:r>
              <a:rPr lang="en-US"/>
              <a:t>It is an external validity factor (i.e generalizability) </a:t>
            </a:r>
          </a:p>
          <a:p>
            <a:pPr lvl="2"/>
            <a:r>
              <a:rPr lang="en-US"/>
              <a:t>Again it is distinct from confounding,  although both ultimately become variables we adjust for but for different reasons</a:t>
            </a:r>
          </a:p>
          <a:p>
            <a:pPr lvl="2"/>
            <a:endParaRPr lang="en-US"/>
          </a:p>
          <a:p>
            <a:pPr lvl="2"/>
            <a:endParaRPr lang="en-US" dirty="0"/>
          </a:p>
        </p:txBody>
      </p:sp>
      <p:pic>
        <p:nvPicPr>
          <p:cNvPr id="4" name="Picture 3">
            <a:extLst>
              <a:ext uri="{FF2B5EF4-FFF2-40B4-BE49-F238E27FC236}">
                <a16:creationId xmlns:a16="http://schemas.microsoft.com/office/drawing/2014/main" id="{D72AA570-BCFF-596B-6F6B-BC10627B2089}"/>
              </a:ext>
            </a:extLst>
          </p:cNvPr>
          <p:cNvPicPr>
            <a:picLocks noChangeAspect="1"/>
          </p:cNvPicPr>
          <p:nvPr/>
        </p:nvPicPr>
        <p:blipFill>
          <a:blip r:embed="rId2"/>
          <a:stretch>
            <a:fillRect/>
          </a:stretch>
        </p:blipFill>
        <p:spPr>
          <a:xfrm>
            <a:off x="1641398" y="4704589"/>
            <a:ext cx="3378200" cy="1981200"/>
          </a:xfrm>
          <a:prstGeom prst="rect">
            <a:avLst/>
          </a:prstGeom>
        </p:spPr>
      </p:pic>
      <p:pic>
        <p:nvPicPr>
          <p:cNvPr id="5" name="Picture 4">
            <a:extLst>
              <a:ext uri="{FF2B5EF4-FFF2-40B4-BE49-F238E27FC236}">
                <a16:creationId xmlns:a16="http://schemas.microsoft.com/office/drawing/2014/main" id="{41B9AA04-C1C2-1DA2-FC92-D67C6D9F5F00}"/>
              </a:ext>
            </a:extLst>
          </p:cNvPr>
          <p:cNvPicPr>
            <a:picLocks noChangeAspect="1"/>
          </p:cNvPicPr>
          <p:nvPr/>
        </p:nvPicPr>
        <p:blipFill>
          <a:blip r:embed="rId3"/>
          <a:srcRect t="6541" b="3473"/>
          <a:stretch>
            <a:fillRect/>
          </a:stretch>
        </p:blipFill>
        <p:spPr>
          <a:xfrm>
            <a:off x="6639196" y="4749427"/>
            <a:ext cx="4281415" cy="1746032"/>
          </a:xfrm>
          <a:prstGeom prst="rect">
            <a:avLst/>
          </a:prstGeom>
        </p:spPr>
      </p:pic>
    </p:spTree>
    <p:extLst>
      <p:ext uri="{BB962C8B-B14F-4D97-AF65-F5344CB8AC3E}">
        <p14:creationId xmlns:p14="http://schemas.microsoft.com/office/powerpoint/2010/main" val="3164610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AD607-BCA6-AB13-E955-32A8A6A2E0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D2D5E3-EA84-5CE9-9988-D217E07700D8}"/>
              </a:ext>
            </a:extLst>
          </p:cNvPr>
          <p:cNvSpPr>
            <a:spLocks noGrp="1"/>
          </p:cNvSpPr>
          <p:nvPr>
            <p:ph type="title"/>
          </p:nvPr>
        </p:nvSpPr>
        <p:spPr/>
        <p:txBody>
          <a:bodyPr/>
          <a:lstStyle/>
          <a:p>
            <a:r>
              <a:rPr lang="en-US" dirty="0"/>
              <a:t>Effect Measure Modification </a:t>
            </a:r>
          </a:p>
        </p:txBody>
      </p:sp>
      <p:sp>
        <p:nvSpPr>
          <p:cNvPr id="3" name="Content Placeholder 2">
            <a:extLst>
              <a:ext uri="{FF2B5EF4-FFF2-40B4-BE49-F238E27FC236}">
                <a16:creationId xmlns:a16="http://schemas.microsoft.com/office/drawing/2014/main" id="{8E874C78-C887-F6AA-6F3B-1B586334D3FE}"/>
              </a:ext>
            </a:extLst>
          </p:cNvPr>
          <p:cNvSpPr>
            <a:spLocks noGrp="1"/>
          </p:cNvSpPr>
          <p:nvPr>
            <p:ph idx="1"/>
          </p:nvPr>
        </p:nvSpPr>
        <p:spPr/>
        <p:txBody>
          <a:bodyPr>
            <a:normAutofit/>
          </a:bodyPr>
          <a:lstStyle/>
          <a:p>
            <a:pPr lvl="1"/>
            <a:r>
              <a:rPr lang="en-US" dirty="0"/>
              <a:t>EMM is scale dependent: additive, multiplicative </a:t>
            </a:r>
          </a:p>
          <a:p>
            <a:pPr lvl="2"/>
            <a:r>
              <a:rPr lang="en-US" dirty="0"/>
              <a:t>Presentation of results depends on scale. </a:t>
            </a:r>
          </a:p>
          <a:p>
            <a:pPr lvl="2"/>
            <a:r>
              <a:rPr lang="en-US" dirty="0"/>
              <a:t>Present relative risks (RRs), Ors or risk differences (RDs) with confidence intervals (Cis) for each stratum of A and X with a single reference category. </a:t>
            </a:r>
          </a:p>
          <a:p>
            <a:pPr lvl="3"/>
            <a:r>
              <a:rPr lang="en-US" dirty="0"/>
              <a:t>Amongst females: the association of A=2 vs A1 was X% higher or lower </a:t>
            </a:r>
          </a:p>
          <a:p>
            <a:pPr lvl="3"/>
            <a:r>
              <a:rPr lang="en-US" dirty="0"/>
              <a:t>Amongst males: the association of of A=2 vs A1 was X% higher or lower </a:t>
            </a:r>
          </a:p>
          <a:p>
            <a:pPr lvl="3"/>
            <a:r>
              <a:rPr lang="en-US" dirty="0"/>
              <a:t>The association was stronger amongst females. </a:t>
            </a:r>
          </a:p>
          <a:p>
            <a:pPr lvl="2"/>
            <a:endParaRPr lang="en-US" dirty="0"/>
          </a:p>
          <a:p>
            <a:pPr lvl="2"/>
            <a:endParaRPr lang="en-US" dirty="0"/>
          </a:p>
          <a:p>
            <a:pPr lvl="2"/>
            <a:endParaRPr lang="en-US" dirty="0"/>
          </a:p>
        </p:txBody>
      </p:sp>
    </p:spTree>
    <p:extLst>
      <p:ext uri="{BB962C8B-B14F-4D97-AF65-F5344CB8AC3E}">
        <p14:creationId xmlns:p14="http://schemas.microsoft.com/office/powerpoint/2010/main" val="511751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16A3C0-ED17-E2E0-EE12-CE456692C94E}"/>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C7FF834-B204-4967-8D47-8BB36EAF0E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780A22D-61EA-43E3-BD94-3E39CF902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18509"/>
            <a:ext cx="12192000" cy="19394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FB32C3-230E-5BF2-79D6-862A1B8F94FA}"/>
              </a:ext>
            </a:extLst>
          </p:cNvPr>
          <p:cNvSpPr>
            <a:spLocks noGrp="1"/>
          </p:cNvSpPr>
          <p:nvPr>
            <p:ph type="title"/>
          </p:nvPr>
        </p:nvSpPr>
        <p:spPr>
          <a:xfrm>
            <a:off x="1600200" y="4269282"/>
            <a:ext cx="8991600" cy="1264762"/>
          </a:xfrm>
        </p:spPr>
        <p:txBody>
          <a:bodyPr vert="horz" lIns="274320" tIns="182880" rIns="274320" bIns="182880" rtlCol="0" anchor="ctr" anchorCtr="1">
            <a:normAutofit/>
          </a:bodyPr>
          <a:lstStyle/>
          <a:p>
            <a:r>
              <a:rPr lang="en-US" sz="3200"/>
              <a:t>Practice</a:t>
            </a:r>
            <a:endParaRPr lang="en-US" sz="3200" dirty="0"/>
          </a:p>
        </p:txBody>
      </p:sp>
      <p:pic>
        <p:nvPicPr>
          <p:cNvPr id="6" name="Picture 5">
            <a:extLst>
              <a:ext uri="{FF2B5EF4-FFF2-40B4-BE49-F238E27FC236}">
                <a16:creationId xmlns:a16="http://schemas.microsoft.com/office/drawing/2014/main" id="{B146464C-C1E0-1C22-A5E0-E8E95A078A8F}"/>
              </a:ext>
            </a:extLst>
          </p:cNvPr>
          <p:cNvPicPr>
            <a:picLocks noChangeAspect="1"/>
          </p:cNvPicPr>
          <p:nvPr/>
        </p:nvPicPr>
        <p:blipFill>
          <a:blip r:embed="rId2"/>
          <a:stretch>
            <a:fillRect/>
          </a:stretch>
        </p:blipFill>
        <p:spPr>
          <a:xfrm>
            <a:off x="635267" y="980157"/>
            <a:ext cx="10921466" cy="2621149"/>
          </a:xfrm>
          <a:prstGeom prst="rect">
            <a:avLst/>
          </a:prstGeom>
        </p:spPr>
      </p:pic>
    </p:spTree>
    <p:extLst>
      <p:ext uri="{BB962C8B-B14F-4D97-AF65-F5344CB8AC3E}">
        <p14:creationId xmlns:p14="http://schemas.microsoft.com/office/powerpoint/2010/main" val="1387124750"/>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59</TotalTime>
  <Words>713</Words>
  <Application>Microsoft Macintosh PowerPoint</Application>
  <PresentationFormat>Widescreen</PresentationFormat>
  <Paragraphs>64</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Gill Sans MT</vt:lpstr>
      <vt:lpstr>Wingdings</vt:lpstr>
      <vt:lpstr>Parcel</vt:lpstr>
      <vt:lpstr>Results</vt:lpstr>
      <vt:lpstr>Goal  </vt:lpstr>
      <vt:lpstr>Goal  </vt:lpstr>
      <vt:lpstr>Structure </vt:lpstr>
      <vt:lpstr>Descriptive Analysis </vt:lpstr>
      <vt:lpstr>Main Analysis </vt:lpstr>
      <vt:lpstr>Secondary  Analysis </vt:lpstr>
      <vt:lpstr>Effect Measure Modification </vt:lpstr>
      <vt:lpstr>Effect Measure Modification </vt:lpstr>
      <vt:lpstr>Effect Measure Modification </vt:lpstr>
      <vt:lpstr>Effect Measure Modification </vt:lpstr>
      <vt:lpstr>Effect Measure Modification </vt:lpstr>
      <vt:lpstr>Effect Measure Modification </vt:lpstr>
      <vt:lpstr>Practice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Nickelberry, Marshae</dc:creator>
  <cp:lastModifiedBy>Nickelberry, Marshae</cp:lastModifiedBy>
  <cp:revision>1</cp:revision>
  <dcterms:created xsi:type="dcterms:W3CDTF">2025-12-12T13:57:24Z</dcterms:created>
  <dcterms:modified xsi:type="dcterms:W3CDTF">2025-12-19T14:29:31Z</dcterms:modified>
</cp:coreProperties>
</file>