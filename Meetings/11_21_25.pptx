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60" r:id="rId4"/>
    <p:sldId id="258" r:id="rId5"/>
    <p:sldId id="259" r:id="rId6"/>
    <p:sldId id="261" r:id="rId7"/>
    <p:sldId id="272" r:id="rId8"/>
    <p:sldId id="273" r:id="rId9"/>
    <p:sldId id="274" r:id="rId10"/>
    <p:sldId id="262" r:id="rId11"/>
    <p:sldId id="263" r:id="rId12"/>
    <p:sldId id="266" r:id="rId13"/>
    <p:sldId id="268" r:id="rId14"/>
    <p:sldId id="270" r:id="rId15"/>
    <p:sldId id="271" r:id="rId16"/>
    <p:sldId id="264" r:id="rId17"/>
    <p:sldId id="265"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58"/>
    <p:restoredTop sz="79345"/>
  </p:normalViewPr>
  <p:slideViewPr>
    <p:cSldViewPr snapToGrid="0">
      <p:cViewPr varScale="1">
        <p:scale>
          <a:sx n="88" d="100"/>
          <a:sy n="88" d="100"/>
        </p:scale>
        <p:origin x="17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5569FB-40DC-F046-8043-F561195DAB16}" type="datetimeFigureOut">
              <a:rPr lang="en-US" smtClean="0"/>
              <a:t>11/21/25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273460-D339-A643-86A3-F3331C05E784}" type="slidenum">
              <a:rPr lang="en-US" smtClean="0"/>
              <a:t>‹#›</a:t>
            </a:fld>
            <a:endParaRPr lang="en-US"/>
          </a:p>
        </p:txBody>
      </p:sp>
    </p:spTree>
    <p:extLst>
      <p:ext uri="{BB962C8B-B14F-4D97-AF65-F5344CB8AC3E}">
        <p14:creationId xmlns:p14="http://schemas.microsoft.com/office/powerpoint/2010/main" val="313843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273460-D339-A643-86A3-F3331C05E784}" type="slidenum">
              <a:rPr lang="en-US" smtClean="0"/>
              <a:t>5</a:t>
            </a:fld>
            <a:endParaRPr lang="en-US"/>
          </a:p>
        </p:txBody>
      </p:sp>
    </p:spTree>
    <p:extLst>
      <p:ext uri="{BB962C8B-B14F-4D97-AF65-F5344CB8AC3E}">
        <p14:creationId xmlns:p14="http://schemas.microsoft.com/office/powerpoint/2010/main" val="70518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dirty="0" err="1"/>
              <a:t>www.sciencedirect.com</a:t>
            </a:r>
            <a:r>
              <a:rPr lang="en-US" dirty="0"/>
              <a:t>/science/article/abs/</a:t>
            </a:r>
            <a:r>
              <a:rPr lang="en-US" dirty="0" err="1"/>
              <a:t>pii</a:t>
            </a:r>
            <a:r>
              <a:rPr lang="en-US" dirty="0"/>
              <a:t>/S0895435618309867</a:t>
            </a:r>
          </a:p>
          <a:p>
            <a:endParaRPr lang="en-US" dirty="0"/>
          </a:p>
        </p:txBody>
      </p:sp>
      <p:sp>
        <p:nvSpPr>
          <p:cNvPr id="4" name="Slide Number Placeholder 3"/>
          <p:cNvSpPr>
            <a:spLocks noGrp="1"/>
          </p:cNvSpPr>
          <p:nvPr>
            <p:ph type="sldNum" sz="quarter" idx="5"/>
          </p:nvPr>
        </p:nvSpPr>
        <p:spPr/>
        <p:txBody>
          <a:bodyPr/>
          <a:lstStyle/>
          <a:p>
            <a:fld id="{1C273460-D339-A643-86A3-F3331C05E784}" type="slidenum">
              <a:rPr lang="en-US" smtClean="0"/>
              <a:t>6</a:t>
            </a:fld>
            <a:endParaRPr lang="en-US"/>
          </a:p>
        </p:txBody>
      </p:sp>
    </p:spTree>
    <p:extLst>
      <p:ext uri="{BB962C8B-B14F-4D97-AF65-F5344CB8AC3E}">
        <p14:creationId xmlns:p14="http://schemas.microsoft.com/office/powerpoint/2010/main" val="3251923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2C5A0-DE2A-A308-4AA8-054B28BAE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3B926-CF0E-CA70-69FC-F6E60C7BF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05FAE-FDBE-D94F-73B7-4CBB179A2B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Comes across again very much like a list. That’s not the goal. </a:t>
            </a:r>
          </a:p>
          <a:p>
            <a:endParaRPr lang="en-US" dirty="0"/>
          </a:p>
        </p:txBody>
      </p:sp>
      <p:sp>
        <p:nvSpPr>
          <p:cNvPr id="4" name="Slide Number Placeholder 3">
            <a:extLst>
              <a:ext uri="{FF2B5EF4-FFF2-40B4-BE49-F238E27FC236}">
                <a16:creationId xmlns:a16="http://schemas.microsoft.com/office/drawing/2014/main" id="{283DC4C6-C138-E3BD-65E2-153113C4883F}"/>
              </a:ext>
            </a:extLst>
          </p:cNvPr>
          <p:cNvSpPr>
            <a:spLocks noGrp="1"/>
          </p:cNvSpPr>
          <p:nvPr>
            <p:ph type="sldNum" sz="quarter" idx="5"/>
          </p:nvPr>
        </p:nvSpPr>
        <p:spPr/>
        <p:txBody>
          <a:bodyPr/>
          <a:lstStyle/>
          <a:p>
            <a:fld id="{1C273460-D339-A643-86A3-F3331C05E784}" type="slidenum">
              <a:rPr lang="en-US" smtClean="0"/>
              <a:t>7</a:t>
            </a:fld>
            <a:endParaRPr lang="en-US"/>
          </a:p>
        </p:txBody>
      </p:sp>
    </p:spTree>
    <p:extLst>
      <p:ext uri="{BB962C8B-B14F-4D97-AF65-F5344CB8AC3E}">
        <p14:creationId xmlns:p14="http://schemas.microsoft.com/office/powerpoint/2010/main" val="3011626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5225-1E81-64BD-0EBA-D98B79FEE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6FD7C-B51A-EB24-C697-33B3AD4BAC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12C5B7-9A00-4CDF-91BC-A5BE2F40A6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Comes across again very much like a list. That’s not the goal. </a:t>
            </a:r>
          </a:p>
          <a:p>
            <a:endParaRPr lang="en-US" dirty="0"/>
          </a:p>
        </p:txBody>
      </p:sp>
      <p:sp>
        <p:nvSpPr>
          <p:cNvPr id="4" name="Slide Number Placeholder 3">
            <a:extLst>
              <a:ext uri="{FF2B5EF4-FFF2-40B4-BE49-F238E27FC236}">
                <a16:creationId xmlns:a16="http://schemas.microsoft.com/office/drawing/2014/main" id="{5CD17CE5-E845-8064-EBA5-9140B31C3EED}"/>
              </a:ext>
            </a:extLst>
          </p:cNvPr>
          <p:cNvSpPr>
            <a:spLocks noGrp="1"/>
          </p:cNvSpPr>
          <p:nvPr>
            <p:ph type="sldNum" sz="quarter" idx="5"/>
          </p:nvPr>
        </p:nvSpPr>
        <p:spPr/>
        <p:txBody>
          <a:bodyPr/>
          <a:lstStyle/>
          <a:p>
            <a:fld id="{1C273460-D339-A643-86A3-F3331C05E784}" type="slidenum">
              <a:rPr lang="en-US" smtClean="0"/>
              <a:t>8</a:t>
            </a:fld>
            <a:endParaRPr lang="en-US"/>
          </a:p>
        </p:txBody>
      </p:sp>
    </p:spTree>
    <p:extLst>
      <p:ext uri="{BB962C8B-B14F-4D97-AF65-F5344CB8AC3E}">
        <p14:creationId xmlns:p14="http://schemas.microsoft.com/office/powerpoint/2010/main" val="2018975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27D3-4AED-EC44-C4AC-0B7EA0AD4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F801F-99A1-C82A-45F2-DF3F7B8896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43EE2-97DF-4B18-759B-9F42E2C375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Comes across again very much like a list. That’s not the goal. </a:t>
            </a:r>
          </a:p>
          <a:p>
            <a:endParaRPr lang="en-US" dirty="0"/>
          </a:p>
        </p:txBody>
      </p:sp>
      <p:sp>
        <p:nvSpPr>
          <p:cNvPr id="4" name="Slide Number Placeholder 3">
            <a:extLst>
              <a:ext uri="{FF2B5EF4-FFF2-40B4-BE49-F238E27FC236}">
                <a16:creationId xmlns:a16="http://schemas.microsoft.com/office/drawing/2014/main" id="{B36EF973-1C1A-1D2C-1C45-6BB93A1EF002}"/>
              </a:ext>
            </a:extLst>
          </p:cNvPr>
          <p:cNvSpPr>
            <a:spLocks noGrp="1"/>
          </p:cNvSpPr>
          <p:nvPr>
            <p:ph type="sldNum" sz="quarter" idx="5"/>
          </p:nvPr>
        </p:nvSpPr>
        <p:spPr/>
        <p:txBody>
          <a:bodyPr/>
          <a:lstStyle/>
          <a:p>
            <a:fld id="{1C273460-D339-A643-86A3-F3331C05E784}" type="slidenum">
              <a:rPr lang="en-US" smtClean="0"/>
              <a:t>9</a:t>
            </a:fld>
            <a:endParaRPr lang="en-US"/>
          </a:p>
        </p:txBody>
      </p:sp>
    </p:spTree>
    <p:extLst>
      <p:ext uri="{BB962C8B-B14F-4D97-AF65-F5344CB8AC3E}">
        <p14:creationId xmlns:p14="http://schemas.microsoft.com/office/powerpoint/2010/main" val="2509364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Use similar sentences and words to present similar results and do not try to find new ways to write the same (i.e., synonyms), as this will only confuse the reader.</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Ensure </a:t>
            </a:r>
            <a:r>
              <a:rPr lang="en-US" sz="1200" b="0" i="0" u="none" strike="noStrike" kern="1200" dirty="0" err="1">
                <a:solidFill>
                  <a:schemeClr val="tx1"/>
                </a:solidFill>
                <a:effectLst/>
                <a:latin typeface="+mn-lt"/>
                <a:ea typeface="+mn-ea"/>
                <a:cs typeface="+mn-cs"/>
              </a:rPr>
              <a:t>Ayishat</a:t>
            </a:r>
            <a:r>
              <a:rPr lang="en-US" sz="1200" b="0" i="0" u="none" strike="noStrike" kern="1200" dirty="0">
                <a:solidFill>
                  <a:schemeClr val="tx1"/>
                </a:solidFill>
                <a:effectLst/>
                <a:latin typeface="+mn-lt"/>
                <a:ea typeface="+mn-ea"/>
                <a:cs typeface="+mn-cs"/>
              </a:rPr>
              <a:t> understands unadjusted and adjusted. </a:t>
            </a:r>
          </a:p>
          <a:p>
            <a:pPr marL="171450" indent="-171450">
              <a:buFontTx/>
              <a:buChar char="-"/>
            </a:pPr>
            <a:r>
              <a:rPr lang="en-US" sz="1200" b="0" i="0" u="none" strike="noStrike" kern="1200" dirty="0">
                <a:solidFill>
                  <a:schemeClr val="tx1"/>
                </a:solidFill>
                <a:effectLst/>
                <a:latin typeface="+mn-lt"/>
                <a:ea typeface="+mn-ea"/>
                <a:cs typeface="+mn-cs"/>
              </a:rPr>
              <a:t>Unadjusted: measure that is crude. Where we can isolate one risk factor and see its impact. </a:t>
            </a:r>
          </a:p>
          <a:p>
            <a:pPr marL="171450" indent="-171450">
              <a:buFontTx/>
              <a:buChar char="-"/>
            </a:pPr>
            <a:r>
              <a:rPr lang="en-US" sz="1200" b="0" i="0" u="none" strike="noStrike" kern="1200" dirty="0">
                <a:solidFill>
                  <a:schemeClr val="tx1"/>
                </a:solidFill>
                <a:effectLst/>
                <a:latin typeface="+mn-lt"/>
                <a:ea typeface="+mn-ea"/>
                <a:cs typeface="+mn-cs"/>
              </a:rPr>
              <a:t>Adjusted takes into account all of those other </a:t>
            </a:r>
            <a:r>
              <a:rPr lang="en-US" sz="1200" b="0" i="0" u="none" strike="noStrike" kern="1200" dirty="0" err="1">
                <a:solidFill>
                  <a:schemeClr val="tx1"/>
                </a:solidFill>
                <a:effectLst/>
                <a:latin typeface="+mn-lt"/>
                <a:ea typeface="+mn-ea"/>
                <a:cs typeface="+mn-cs"/>
              </a:rPr>
              <a:t>characterstics</a:t>
            </a:r>
            <a:r>
              <a:rPr lang="en-US" sz="1200" b="0" i="0" u="none" strike="noStrike" kern="1200" dirty="0">
                <a:solidFill>
                  <a:schemeClr val="tx1"/>
                </a:solidFill>
                <a:effectLst/>
                <a:latin typeface="+mn-lt"/>
                <a:ea typeface="+mn-ea"/>
                <a:cs typeface="+mn-cs"/>
              </a:rPr>
              <a:t> we described in our study sample that may have an impact on the exposure and outcome, thus impacting the association. So we need to adjust for those factors. </a:t>
            </a:r>
          </a:p>
          <a:p>
            <a:pPr marL="171450" indent="-171450">
              <a:buFontTx/>
              <a:buChar char="-"/>
            </a:pPr>
            <a:endParaRPr lang="en-US" sz="1200" b="0" i="0" u="none" strike="noStrike" kern="1200" dirty="0">
              <a:solidFill>
                <a:schemeClr val="tx1"/>
              </a:solidFill>
              <a:effectLst/>
              <a:latin typeface="+mn-lt"/>
              <a:ea typeface="+mn-ea"/>
              <a:cs typeface="+mn-cs"/>
            </a:endParaRPr>
          </a:p>
          <a:p>
            <a:pPr marL="171450" indent="-171450">
              <a:buFontTx/>
              <a:buChar char="-"/>
            </a:pPr>
            <a:r>
              <a:rPr lang="en-US" sz="1200" b="0" i="0" u="none" strike="noStrike" kern="1200" dirty="0">
                <a:solidFill>
                  <a:schemeClr val="tx1"/>
                </a:solidFill>
                <a:effectLst/>
                <a:latin typeface="+mn-lt"/>
                <a:ea typeface="+mn-ea"/>
                <a:cs typeface="+mn-cs"/>
              </a:rPr>
              <a:t>Also helps trained </a:t>
            </a:r>
            <a:r>
              <a:rPr lang="en-US" sz="1200" b="0" i="0" u="none" strike="noStrike" kern="1200" dirty="0" err="1">
                <a:solidFill>
                  <a:schemeClr val="tx1"/>
                </a:solidFill>
                <a:effectLst/>
                <a:latin typeface="+mn-lt"/>
                <a:ea typeface="+mn-ea"/>
                <a:cs typeface="+mn-cs"/>
              </a:rPr>
              <a:t>epidemiogolists</a:t>
            </a:r>
            <a:r>
              <a:rPr lang="en-US" sz="1200" b="0" i="0" u="none" strike="noStrike" kern="1200" dirty="0">
                <a:solidFill>
                  <a:schemeClr val="tx1"/>
                </a:solidFill>
                <a:effectLst/>
                <a:latin typeface="+mn-lt"/>
                <a:ea typeface="+mn-ea"/>
                <a:cs typeface="+mn-cs"/>
              </a:rPr>
              <a:t> evaluate potential confounding caused by variables measured and unmeasured </a:t>
            </a:r>
          </a:p>
          <a:p>
            <a:pPr marL="171450" indent="-171450">
              <a:buFontTx/>
              <a:buChar char="-"/>
            </a:pPr>
            <a:endParaRPr lang="en-US" sz="1200" b="0" i="0" u="none" strike="noStrike" kern="1200" dirty="0">
              <a:solidFill>
                <a:schemeClr val="tx1"/>
              </a:solidFill>
              <a:effectLst/>
              <a:latin typeface="+mn-lt"/>
              <a:ea typeface="+mn-ea"/>
              <a:cs typeface="+mn-cs"/>
            </a:endParaRPr>
          </a:p>
          <a:p>
            <a:pPr marL="171450" indent="-171450">
              <a:buFontTx/>
              <a:buChar char="-"/>
            </a:pPr>
            <a:r>
              <a:rPr lang="en-US" dirty="0"/>
              <a:t>https://</a:t>
            </a:r>
            <a:r>
              <a:rPr lang="en-US" dirty="0" err="1"/>
              <a:t>beckydawson.substack.com</a:t>
            </a:r>
            <a:r>
              <a:rPr lang="en-US" dirty="0"/>
              <a:t>/p/reading-the-results-section</a:t>
            </a:r>
          </a:p>
        </p:txBody>
      </p:sp>
      <p:sp>
        <p:nvSpPr>
          <p:cNvPr id="4" name="Slide Number Placeholder 3"/>
          <p:cNvSpPr>
            <a:spLocks noGrp="1"/>
          </p:cNvSpPr>
          <p:nvPr>
            <p:ph type="sldNum" sz="quarter" idx="5"/>
          </p:nvPr>
        </p:nvSpPr>
        <p:spPr/>
        <p:txBody>
          <a:bodyPr/>
          <a:lstStyle/>
          <a:p>
            <a:fld id="{1C273460-D339-A643-86A3-F3331C05E784}" type="slidenum">
              <a:rPr lang="en-US" smtClean="0"/>
              <a:t>10</a:t>
            </a:fld>
            <a:endParaRPr lang="en-US"/>
          </a:p>
        </p:txBody>
      </p:sp>
    </p:spTree>
    <p:extLst>
      <p:ext uri="{BB962C8B-B14F-4D97-AF65-F5344CB8AC3E}">
        <p14:creationId xmlns:p14="http://schemas.microsoft.com/office/powerpoint/2010/main" val="162926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www.jclinepi.com</a:t>
            </a:r>
            <a:r>
              <a:rPr lang="en-US" dirty="0"/>
              <a:t>/article/S0895-4356%2813%2900129-7/</a:t>
            </a:r>
            <a:r>
              <a:rPr lang="en-US" dirty="0" err="1"/>
              <a:t>fulltext</a:t>
            </a:r>
            <a:endParaRPr lang="en-US" dirty="0"/>
          </a:p>
        </p:txBody>
      </p:sp>
      <p:sp>
        <p:nvSpPr>
          <p:cNvPr id="4" name="Slide Number Placeholder 3"/>
          <p:cNvSpPr>
            <a:spLocks noGrp="1"/>
          </p:cNvSpPr>
          <p:nvPr>
            <p:ph type="sldNum" sz="quarter" idx="5"/>
          </p:nvPr>
        </p:nvSpPr>
        <p:spPr/>
        <p:txBody>
          <a:bodyPr/>
          <a:lstStyle/>
          <a:p>
            <a:fld id="{1C273460-D339-A643-86A3-F3331C05E784}" type="slidenum">
              <a:rPr lang="en-US" smtClean="0"/>
              <a:t>11</a:t>
            </a:fld>
            <a:endParaRPr lang="en-US"/>
          </a:p>
        </p:txBody>
      </p:sp>
    </p:spTree>
    <p:extLst>
      <p:ext uri="{BB962C8B-B14F-4D97-AF65-F5344CB8AC3E}">
        <p14:creationId xmlns:p14="http://schemas.microsoft.com/office/powerpoint/2010/main" val="1104827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reads more like a list. Like reading off table. This reads less like an sentence detailing measure of association. </a:t>
            </a:r>
          </a:p>
        </p:txBody>
      </p:sp>
      <p:sp>
        <p:nvSpPr>
          <p:cNvPr id="4" name="Slide Number Placeholder 3"/>
          <p:cNvSpPr>
            <a:spLocks noGrp="1"/>
          </p:cNvSpPr>
          <p:nvPr>
            <p:ph type="sldNum" sz="quarter" idx="5"/>
          </p:nvPr>
        </p:nvSpPr>
        <p:spPr/>
        <p:txBody>
          <a:bodyPr/>
          <a:lstStyle/>
          <a:p>
            <a:fld id="{1C273460-D339-A643-86A3-F3331C05E784}" type="slidenum">
              <a:rPr lang="en-US" smtClean="0"/>
              <a:t>12</a:t>
            </a:fld>
            <a:endParaRPr lang="en-US"/>
          </a:p>
        </p:txBody>
      </p:sp>
    </p:spTree>
    <p:extLst>
      <p:ext uri="{BB962C8B-B14F-4D97-AF65-F5344CB8AC3E}">
        <p14:creationId xmlns:p14="http://schemas.microsoft.com/office/powerpoint/2010/main" val="2218643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483C2-68BC-1974-B759-1C44D01E1E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C1EA1-9D60-3B66-B04C-A30D6502AF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FAA15-70BF-218E-2154-F44C0E35AB2B}"/>
              </a:ext>
            </a:extLst>
          </p:cNvPr>
          <p:cNvSpPr>
            <a:spLocks noGrp="1"/>
          </p:cNvSpPr>
          <p:nvPr>
            <p:ph type="body" idx="1"/>
          </p:nvPr>
        </p:nvSpPr>
        <p:spPr/>
        <p:txBody>
          <a:bodyPr/>
          <a:lstStyle/>
          <a:p>
            <a:r>
              <a:rPr lang="en-US" dirty="0"/>
              <a:t>This reads more like a list. Like reading off table. This reads less like an sentence detailing measure of association. </a:t>
            </a:r>
          </a:p>
        </p:txBody>
      </p:sp>
      <p:sp>
        <p:nvSpPr>
          <p:cNvPr id="4" name="Slide Number Placeholder 3">
            <a:extLst>
              <a:ext uri="{FF2B5EF4-FFF2-40B4-BE49-F238E27FC236}">
                <a16:creationId xmlns:a16="http://schemas.microsoft.com/office/drawing/2014/main" id="{A35ED107-7AA6-7F04-8873-7C32B82FF239}"/>
              </a:ext>
            </a:extLst>
          </p:cNvPr>
          <p:cNvSpPr>
            <a:spLocks noGrp="1"/>
          </p:cNvSpPr>
          <p:nvPr>
            <p:ph type="sldNum" sz="quarter" idx="5"/>
          </p:nvPr>
        </p:nvSpPr>
        <p:spPr/>
        <p:txBody>
          <a:bodyPr/>
          <a:lstStyle/>
          <a:p>
            <a:fld id="{1C273460-D339-A643-86A3-F3331C05E784}" type="slidenum">
              <a:rPr lang="en-US" smtClean="0"/>
              <a:t>13</a:t>
            </a:fld>
            <a:endParaRPr lang="en-US"/>
          </a:p>
        </p:txBody>
      </p:sp>
    </p:spTree>
    <p:extLst>
      <p:ext uri="{BB962C8B-B14F-4D97-AF65-F5344CB8AC3E}">
        <p14:creationId xmlns:p14="http://schemas.microsoft.com/office/powerpoint/2010/main" val="4156728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FEDF6-C138-D651-8074-D0EA83E45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A349C-2E8B-D0D5-98C8-D0FD86424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4C4A1-B48F-6B9A-1B00-8AD4DC0DFB05}"/>
              </a:ext>
            </a:extLst>
          </p:cNvPr>
          <p:cNvSpPr>
            <a:spLocks noGrp="1"/>
          </p:cNvSpPr>
          <p:nvPr>
            <p:ph type="body" idx="1"/>
          </p:nvPr>
        </p:nvSpPr>
        <p:spPr/>
        <p:txBody>
          <a:bodyPr/>
          <a:lstStyle/>
          <a:p>
            <a:r>
              <a:rPr lang="en-US" dirty="0"/>
              <a:t>This reads more like a list. Like reading off table. This reads less like an sentence detailing measure of association. </a:t>
            </a:r>
          </a:p>
        </p:txBody>
      </p:sp>
      <p:sp>
        <p:nvSpPr>
          <p:cNvPr id="4" name="Slide Number Placeholder 3">
            <a:extLst>
              <a:ext uri="{FF2B5EF4-FFF2-40B4-BE49-F238E27FC236}">
                <a16:creationId xmlns:a16="http://schemas.microsoft.com/office/drawing/2014/main" id="{60297FC6-27EB-13A5-C11F-09D84CAA081C}"/>
              </a:ext>
            </a:extLst>
          </p:cNvPr>
          <p:cNvSpPr>
            <a:spLocks noGrp="1"/>
          </p:cNvSpPr>
          <p:nvPr>
            <p:ph type="sldNum" sz="quarter" idx="5"/>
          </p:nvPr>
        </p:nvSpPr>
        <p:spPr/>
        <p:txBody>
          <a:bodyPr/>
          <a:lstStyle/>
          <a:p>
            <a:fld id="{1C273460-D339-A643-86A3-F3331C05E784}" type="slidenum">
              <a:rPr lang="en-US" smtClean="0"/>
              <a:t>14</a:t>
            </a:fld>
            <a:endParaRPr lang="en-US"/>
          </a:p>
        </p:txBody>
      </p:sp>
    </p:spTree>
    <p:extLst>
      <p:ext uri="{BB962C8B-B14F-4D97-AF65-F5344CB8AC3E}">
        <p14:creationId xmlns:p14="http://schemas.microsoft.com/office/powerpoint/2010/main" val="2702739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language. </a:t>
            </a:r>
          </a:p>
          <a:p>
            <a:endParaRPr lang="en-US" dirty="0"/>
          </a:p>
          <a:p>
            <a:r>
              <a:rPr lang="en-US" dirty="0" err="1"/>
              <a:t>Signficant</a:t>
            </a:r>
            <a:r>
              <a:rPr lang="en-US" dirty="0"/>
              <a:t> in reference group </a:t>
            </a:r>
          </a:p>
          <a:p>
            <a:r>
              <a:rPr lang="en-US" dirty="0"/>
              <a:t>	*</a:t>
            </a:r>
          </a:p>
        </p:txBody>
      </p:sp>
      <p:sp>
        <p:nvSpPr>
          <p:cNvPr id="4" name="Slide Number Placeholder 3"/>
          <p:cNvSpPr>
            <a:spLocks noGrp="1"/>
          </p:cNvSpPr>
          <p:nvPr>
            <p:ph type="sldNum" sz="quarter" idx="5"/>
          </p:nvPr>
        </p:nvSpPr>
        <p:spPr/>
        <p:txBody>
          <a:bodyPr/>
          <a:lstStyle/>
          <a:p>
            <a:fld id="{1C273460-D339-A643-86A3-F3331C05E784}" type="slidenum">
              <a:rPr lang="en-US" smtClean="0"/>
              <a:t>15</a:t>
            </a:fld>
            <a:endParaRPr lang="en-US"/>
          </a:p>
        </p:txBody>
      </p:sp>
    </p:spTree>
    <p:extLst>
      <p:ext uri="{BB962C8B-B14F-4D97-AF65-F5344CB8AC3E}">
        <p14:creationId xmlns:p14="http://schemas.microsoft.com/office/powerpoint/2010/main" val="3873205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C4C25-1BC4-EE34-5ED9-D3DD3CED17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EC400D-735B-DB0A-1069-AD85C3B028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72784A-6B7C-6F91-C739-0A9871338DFA}"/>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5" name="Footer Placeholder 4">
            <a:extLst>
              <a:ext uri="{FF2B5EF4-FFF2-40B4-BE49-F238E27FC236}">
                <a16:creationId xmlns:a16="http://schemas.microsoft.com/office/drawing/2014/main" id="{EC5337B7-C6BE-7E44-8B0A-E2B80B5E0C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B267E-CF7B-5943-748C-AA9E90B6C485}"/>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1362099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71E95-1445-F8E7-D4A2-DBBC5B27E5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84F6D6-C6C8-B43D-C8C6-4C29D26E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A46A15-9585-2D17-3E89-25D6E5FEA8C1}"/>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5" name="Footer Placeholder 4">
            <a:extLst>
              <a:ext uri="{FF2B5EF4-FFF2-40B4-BE49-F238E27FC236}">
                <a16:creationId xmlns:a16="http://schemas.microsoft.com/office/drawing/2014/main" id="{7426742D-F95E-4BCC-561A-3AA2154B38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0B27EF-6AA1-D1DB-497E-0838288C17AC}"/>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1317376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41A4C-C54A-7D6B-589A-F92C9AE3AB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BE18E4-157C-BBDF-B5F7-05446ED960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E12D6A-D93D-9C05-BFC1-F421CF8F1A8C}"/>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5" name="Footer Placeholder 4">
            <a:extLst>
              <a:ext uri="{FF2B5EF4-FFF2-40B4-BE49-F238E27FC236}">
                <a16:creationId xmlns:a16="http://schemas.microsoft.com/office/drawing/2014/main" id="{466F27CD-153A-F279-8692-02CA971437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FAA784-2B08-6A22-C40E-1A3F390C089F}"/>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788090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AE79E-A0FE-D5DE-0B50-36627A7F5B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D5E9BC-B0B8-C1B5-F056-31E02CD9B7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E2E125-D66C-8719-A976-5DD773D61E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FCD9CF-3A38-6530-930D-D08AEC3E94AB}"/>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6" name="Footer Placeholder 5">
            <a:extLst>
              <a:ext uri="{FF2B5EF4-FFF2-40B4-BE49-F238E27FC236}">
                <a16:creationId xmlns:a16="http://schemas.microsoft.com/office/drawing/2014/main" id="{5D67274D-E81B-2570-4B72-8AAC6709C8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ECDBCC-C14E-37EF-647D-443F57082692}"/>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2308728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C76F-8280-F551-D638-7E5A81E0B8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E97298-5F81-0DFB-EB51-1C08708022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86AEEA-4D31-110E-084C-509B655D0A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605A7D-B30E-14F5-E3E8-BA6547EBF5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A14E8F-724E-3A0A-0457-C7E8346E6F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08DC0D-5116-38FB-23BA-6A01ACEB8310}"/>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8" name="Footer Placeholder 7">
            <a:extLst>
              <a:ext uri="{FF2B5EF4-FFF2-40B4-BE49-F238E27FC236}">
                <a16:creationId xmlns:a16="http://schemas.microsoft.com/office/drawing/2014/main" id="{7337E2FF-348F-2695-22B4-6DDF4388A1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E0954F-AD03-403E-33D8-6D1122AD241C}"/>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138184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624FC-FC1A-6B52-3437-5A1AFDABEC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BB37E1-0E3A-4CA0-0823-31A5CC82DBEA}"/>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4" name="Footer Placeholder 3">
            <a:extLst>
              <a:ext uri="{FF2B5EF4-FFF2-40B4-BE49-F238E27FC236}">
                <a16:creationId xmlns:a16="http://schemas.microsoft.com/office/drawing/2014/main" id="{8626FC16-41A6-62E6-F38E-3D6A5EFC6C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00912B-7CAF-5316-7210-BE46031C0BD2}"/>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2417986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4C3330-D83A-1669-DAB9-ADC175E9BA17}"/>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3" name="Footer Placeholder 2">
            <a:extLst>
              <a:ext uri="{FF2B5EF4-FFF2-40B4-BE49-F238E27FC236}">
                <a16:creationId xmlns:a16="http://schemas.microsoft.com/office/drawing/2014/main" id="{510A6653-1FFB-41E9-3EA5-89B6E2FC4B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0B4CFF-291D-6EE6-F935-31F7277918F6}"/>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1614026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3F24F-407D-066E-3A1C-F059B185F5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35A23B-7F92-6F05-8CB0-3F2B1A6B01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1FF807-C46E-72FC-7EE2-079FC411E6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C61DAD-98BC-E02E-DD82-64A015FD1CD2}"/>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6" name="Footer Placeholder 5">
            <a:extLst>
              <a:ext uri="{FF2B5EF4-FFF2-40B4-BE49-F238E27FC236}">
                <a16:creationId xmlns:a16="http://schemas.microsoft.com/office/drawing/2014/main" id="{A93D4090-0EE3-06E6-2FEB-A9228B6808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24374D-588F-0381-7602-0560B5EF6417}"/>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235137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83B3-DF3D-2E36-1BFE-7D2111096F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E33BAC-F61D-A0BD-F415-EE4C68CB9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AA6D1E-A7E1-BF76-FCE8-2C91A4879A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919A00-FD41-5ADD-96E9-6E0CF46E6D1A}"/>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6" name="Footer Placeholder 5">
            <a:extLst>
              <a:ext uri="{FF2B5EF4-FFF2-40B4-BE49-F238E27FC236}">
                <a16:creationId xmlns:a16="http://schemas.microsoft.com/office/drawing/2014/main" id="{94DCAE52-C8B3-E59F-268D-C18D85F00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EA51F-799C-E911-EB14-58B3A5047817}"/>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3055907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C2CCB-2A35-6230-22DA-63C96FE110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47AB7B-F3AA-9393-9E39-CAF146CD44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2552CA-7119-1182-FB85-DC8D2FDC75FF}"/>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5" name="Footer Placeholder 4">
            <a:extLst>
              <a:ext uri="{FF2B5EF4-FFF2-40B4-BE49-F238E27FC236}">
                <a16:creationId xmlns:a16="http://schemas.microsoft.com/office/drawing/2014/main" id="{E6771E85-D98E-C71F-FE02-42B0B517BC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2789A6-B737-A404-B084-8A49A45A7FD8}"/>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2708745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E6BEE8-B447-EB13-8932-21DC710C7D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A8BB5A-0B1D-D0D5-2A07-DEDEC85C36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82D091-DEE6-CB19-3513-59452FBABB4A}"/>
              </a:ext>
            </a:extLst>
          </p:cNvPr>
          <p:cNvSpPr>
            <a:spLocks noGrp="1"/>
          </p:cNvSpPr>
          <p:nvPr>
            <p:ph type="dt" sz="half" idx="10"/>
          </p:nvPr>
        </p:nvSpPr>
        <p:spPr/>
        <p:txBody>
          <a:bodyPr/>
          <a:lstStyle/>
          <a:p>
            <a:fld id="{802C746B-7F5D-114A-BBC8-B9C591FCCB13}" type="datetimeFigureOut">
              <a:rPr lang="en-US" smtClean="0"/>
              <a:t>11/21/25</a:t>
            </a:fld>
            <a:endParaRPr lang="en-US"/>
          </a:p>
        </p:txBody>
      </p:sp>
      <p:sp>
        <p:nvSpPr>
          <p:cNvPr id="5" name="Footer Placeholder 4">
            <a:extLst>
              <a:ext uri="{FF2B5EF4-FFF2-40B4-BE49-F238E27FC236}">
                <a16:creationId xmlns:a16="http://schemas.microsoft.com/office/drawing/2014/main" id="{8B12399D-5C32-927A-D61E-05BF0B888D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EB6661-1758-7432-4720-3942D14170E5}"/>
              </a:ext>
            </a:extLst>
          </p:cNvPr>
          <p:cNvSpPr>
            <a:spLocks noGrp="1"/>
          </p:cNvSpPr>
          <p:nvPr>
            <p:ph type="sldNum" sz="quarter" idx="12"/>
          </p:nvPr>
        </p:nvSpPr>
        <p:spPr/>
        <p:txBody>
          <a:bodyPr/>
          <a:lstStyle/>
          <a:p>
            <a:fld id="{B1CD4A9C-DFEA-594F-9AC6-3B4D621F4A8D}" type="slidenum">
              <a:rPr lang="en-US" smtClean="0"/>
              <a:t>‹#›</a:t>
            </a:fld>
            <a:endParaRPr lang="en-US"/>
          </a:p>
        </p:txBody>
      </p:sp>
    </p:spTree>
    <p:extLst>
      <p:ext uri="{BB962C8B-B14F-4D97-AF65-F5344CB8AC3E}">
        <p14:creationId xmlns:p14="http://schemas.microsoft.com/office/powerpoint/2010/main" val="3254356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AB8C2E-E72E-2230-623B-DC707AD2BC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F9337B-A432-9134-3FFA-25CA05D45D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366A7-F8C9-34C4-A197-2D037EB5A6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2C746B-7F5D-114A-BBC8-B9C591FCCB13}" type="datetimeFigureOut">
              <a:rPr lang="en-US" smtClean="0"/>
              <a:t>11/21/25</a:t>
            </a:fld>
            <a:endParaRPr lang="en-US"/>
          </a:p>
        </p:txBody>
      </p:sp>
      <p:sp>
        <p:nvSpPr>
          <p:cNvPr id="5" name="Footer Placeholder 4">
            <a:extLst>
              <a:ext uri="{FF2B5EF4-FFF2-40B4-BE49-F238E27FC236}">
                <a16:creationId xmlns:a16="http://schemas.microsoft.com/office/drawing/2014/main" id="{68C1B697-002D-5EBE-40C1-B6C75F4CA5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BC9DDE-0475-5A87-22D1-668C3EC226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CD4A9C-DFEA-594F-9AC6-3B4D621F4A8D}" type="slidenum">
              <a:rPr lang="en-US" smtClean="0"/>
              <a:t>‹#›</a:t>
            </a:fld>
            <a:endParaRPr lang="en-US"/>
          </a:p>
        </p:txBody>
      </p:sp>
    </p:spTree>
    <p:extLst>
      <p:ext uri="{BB962C8B-B14F-4D97-AF65-F5344CB8AC3E}">
        <p14:creationId xmlns:p14="http://schemas.microsoft.com/office/powerpoint/2010/main" val="4237294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D7DA0-69B2-F8AC-9041-3BD8B7B0B334}"/>
              </a:ext>
            </a:extLst>
          </p:cNvPr>
          <p:cNvSpPr>
            <a:spLocks noGrp="1"/>
          </p:cNvSpPr>
          <p:nvPr>
            <p:ph type="ctrTitle"/>
          </p:nvPr>
        </p:nvSpPr>
        <p:spPr/>
        <p:txBody>
          <a:bodyPr/>
          <a:lstStyle/>
          <a:p>
            <a:r>
              <a:rPr lang="en-US" dirty="0"/>
              <a:t>Results Section </a:t>
            </a:r>
          </a:p>
        </p:txBody>
      </p:sp>
      <p:sp>
        <p:nvSpPr>
          <p:cNvPr id="3" name="Subtitle 2">
            <a:extLst>
              <a:ext uri="{FF2B5EF4-FFF2-40B4-BE49-F238E27FC236}">
                <a16:creationId xmlns:a16="http://schemas.microsoft.com/office/drawing/2014/main" id="{EFC4FC55-1060-038D-2892-601486FF3429}"/>
              </a:ext>
            </a:extLst>
          </p:cNvPr>
          <p:cNvSpPr>
            <a:spLocks noGrp="1"/>
          </p:cNvSpPr>
          <p:nvPr>
            <p:ph type="subTitle" idx="1"/>
          </p:nvPr>
        </p:nvSpPr>
        <p:spPr/>
        <p:txBody>
          <a:bodyPr/>
          <a:lstStyle/>
          <a:p>
            <a:r>
              <a:rPr lang="en-US" dirty="0" err="1"/>
              <a:t>Ayishat</a:t>
            </a:r>
            <a:r>
              <a:rPr lang="en-US" dirty="0"/>
              <a:t>/Marshae 1:1 </a:t>
            </a:r>
          </a:p>
          <a:p>
            <a:r>
              <a:rPr lang="en-US" dirty="0"/>
              <a:t>11/21/25</a:t>
            </a:r>
          </a:p>
        </p:txBody>
      </p:sp>
    </p:spTree>
    <p:extLst>
      <p:ext uri="{BB962C8B-B14F-4D97-AF65-F5344CB8AC3E}">
        <p14:creationId xmlns:p14="http://schemas.microsoft.com/office/powerpoint/2010/main" val="2359931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E9641-F0DB-AC2B-CADF-D88D09BC8293}"/>
              </a:ext>
            </a:extLst>
          </p:cNvPr>
          <p:cNvSpPr>
            <a:spLocks noGrp="1"/>
          </p:cNvSpPr>
          <p:nvPr>
            <p:ph type="title"/>
          </p:nvPr>
        </p:nvSpPr>
        <p:spPr/>
        <p:txBody>
          <a:bodyPr/>
          <a:lstStyle/>
          <a:p>
            <a:r>
              <a:rPr lang="en-US" dirty="0"/>
              <a:t>Goal</a:t>
            </a:r>
          </a:p>
        </p:txBody>
      </p:sp>
      <p:sp>
        <p:nvSpPr>
          <p:cNvPr id="3" name="Content Placeholder 2">
            <a:extLst>
              <a:ext uri="{FF2B5EF4-FFF2-40B4-BE49-F238E27FC236}">
                <a16:creationId xmlns:a16="http://schemas.microsoft.com/office/drawing/2014/main" id="{BCDF675B-8312-894C-9DFB-0C34CB604911}"/>
              </a:ext>
            </a:extLst>
          </p:cNvPr>
          <p:cNvSpPr>
            <a:spLocks noGrp="1"/>
          </p:cNvSpPr>
          <p:nvPr>
            <p:ph idx="1"/>
          </p:nvPr>
        </p:nvSpPr>
        <p:spPr/>
        <p:txBody>
          <a:bodyPr/>
          <a:lstStyle/>
          <a:p>
            <a:r>
              <a:rPr lang="en-US" dirty="0"/>
              <a:t>Answer question: What did the authors find? </a:t>
            </a:r>
          </a:p>
          <a:p>
            <a:pPr lvl="1"/>
            <a:r>
              <a:rPr lang="en-US" dirty="0"/>
              <a:t>What were the </a:t>
            </a:r>
            <a:r>
              <a:rPr lang="en-US" b="1" dirty="0"/>
              <a:t>results </a:t>
            </a:r>
            <a:r>
              <a:rPr lang="en-US" dirty="0"/>
              <a:t>(in relation to the objective/purpose stated in introduction)</a:t>
            </a:r>
          </a:p>
          <a:p>
            <a:pPr lvl="1"/>
            <a:endParaRPr lang="en-US" b="1" dirty="0"/>
          </a:p>
          <a:p>
            <a:r>
              <a:rPr lang="en-US" dirty="0"/>
              <a:t>Support findings with evidence—from data. </a:t>
            </a:r>
          </a:p>
          <a:p>
            <a:pPr lvl="1"/>
            <a:r>
              <a:rPr lang="en-US" dirty="0"/>
              <a:t>Form of </a:t>
            </a:r>
            <a:r>
              <a:rPr lang="en-US" b="1" dirty="0"/>
              <a:t>statistics</a:t>
            </a:r>
          </a:p>
          <a:p>
            <a:pPr lvl="1"/>
            <a:endParaRPr lang="en-US" b="1" dirty="0"/>
          </a:p>
          <a:p>
            <a:r>
              <a:rPr lang="en-US" i="1" dirty="0"/>
              <a:t>“Methods are the roadmap, results are the photobook made after the trip”</a:t>
            </a:r>
          </a:p>
          <a:p>
            <a:pPr lvl="1"/>
            <a:endParaRPr lang="en-US" b="1" dirty="0"/>
          </a:p>
          <a:p>
            <a:endParaRPr lang="en-US" dirty="0"/>
          </a:p>
          <a:p>
            <a:endParaRPr lang="en-US" dirty="0"/>
          </a:p>
        </p:txBody>
      </p:sp>
    </p:spTree>
    <p:extLst>
      <p:ext uri="{BB962C8B-B14F-4D97-AF65-F5344CB8AC3E}">
        <p14:creationId xmlns:p14="http://schemas.microsoft.com/office/powerpoint/2010/main" val="1995565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ECDC2-6227-20E1-4D9A-762EAF6B5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3D420-587B-3A87-90A2-F27B42184396}"/>
              </a:ext>
            </a:extLst>
          </p:cNvPr>
          <p:cNvSpPr>
            <a:spLocks noGrp="1"/>
          </p:cNvSpPr>
          <p:nvPr>
            <p:ph type="title"/>
          </p:nvPr>
        </p:nvSpPr>
        <p:spPr/>
        <p:txBody>
          <a:bodyPr/>
          <a:lstStyle/>
          <a:p>
            <a:r>
              <a:rPr lang="en-US" dirty="0"/>
              <a:t>Goal</a:t>
            </a:r>
          </a:p>
        </p:txBody>
      </p:sp>
      <p:sp>
        <p:nvSpPr>
          <p:cNvPr id="3" name="Content Placeholder 2">
            <a:extLst>
              <a:ext uri="{FF2B5EF4-FFF2-40B4-BE49-F238E27FC236}">
                <a16:creationId xmlns:a16="http://schemas.microsoft.com/office/drawing/2014/main" id="{BF423BEF-12A9-272C-E354-57B82859BA20}"/>
              </a:ext>
            </a:extLst>
          </p:cNvPr>
          <p:cNvSpPr>
            <a:spLocks noGrp="1"/>
          </p:cNvSpPr>
          <p:nvPr>
            <p:ph idx="1"/>
          </p:nvPr>
        </p:nvSpPr>
        <p:spPr/>
        <p:txBody>
          <a:bodyPr/>
          <a:lstStyle/>
          <a:p>
            <a:pPr>
              <a:spcAft>
                <a:spcPts val="600"/>
              </a:spcAft>
            </a:pPr>
            <a:r>
              <a:rPr lang="en-US" sz="3200" dirty="0"/>
              <a:t>What the results section does not do: </a:t>
            </a:r>
          </a:p>
          <a:p>
            <a:pPr lvl="1">
              <a:spcAft>
                <a:spcPts val="600"/>
              </a:spcAft>
            </a:pPr>
            <a:r>
              <a:rPr lang="en-US" sz="2800" b="1" dirty="0"/>
              <a:t>Attempt to interpret or analyze findings </a:t>
            </a:r>
          </a:p>
          <a:p>
            <a:pPr>
              <a:spcAft>
                <a:spcPts val="600"/>
              </a:spcAft>
            </a:pPr>
            <a:r>
              <a:rPr lang="en-US" sz="3200" dirty="0"/>
              <a:t>To accomplish this: </a:t>
            </a:r>
          </a:p>
          <a:p>
            <a:pPr lvl="1">
              <a:spcAft>
                <a:spcPts val="600"/>
              </a:spcAft>
            </a:pPr>
            <a:r>
              <a:rPr lang="en-US" sz="2800" b="1" dirty="0"/>
              <a:t>Only state facts </a:t>
            </a:r>
          </a:p>
          <a:p>
            <a:pPr lvl="1">
              <a:spcAft>
                <a:spcPts val="600"/>
              </a:spcAft>
            </a:pPr>
            <a:r>
              <a:rPr lang="en-US" sz="2800" b="1" dirty="0"/>
              <a:t>Summarize findings inn unbiased and logical sequence </a:t>
            </a:r>
          </a:p>
          <a:p>
            <a:endParaRPr lang="en-US" sz="3200" dirty="0"/>
          </a:p>
          <a:p>
            <a:endParaRPr lang="en-US" dirty="0"/>
          </a:p>
        </p:txBody>
      </p:sp>
    </p:spTree>
    <p:extLst>
      <p:ext uri="{BB962C8B-B14F-4D97-AF65-F5344CB8AC3E}">
        <p14:creationId xmlns:p14="http://schemas.microsoft.com/office/powerpoint/2010/main" val="2641713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D6C71-F5A9-5411-4617-9FD715CE4F7D}"/>
              </a:ext>
            </a:extLst>
          </p:cNvPr>
          <p:cNvSpPr>
            <a:spLocks noGrp="1"/>
          </p:cNvSpPr>
          <p:nvPr>
            <p:ph type="title"/>
          </p:nvPr>
        </p:nvSpPr>
        <p:spPr/>
        <p:txBody>
          <a:bodyPr/>
          <a:lstStyle/>
          <a:p>
            <a:r>
              <a:rPr lang="en-US" dirty="0"/>
              <a:t>Structure: Overview</a:t>
            </a:r>
          </a:p>
        </p:txBody>
      </p:sp>
      <p:sp>
        <p:nvSpPr>
          <p:cNvPr id="3" name="Content Placeholder 2">
            <a:extLst>
              <a:ext uri="{FF2B5EF4-FFF2-40B4-BE49-F238E27FC236}">
                <a16:creationId xmlns:a16="http://schemas.microsoft.com/office/drawing/2014/main" id="{14A6658C-0602-0D10-09A1-3C6D135D93B0}"/>
              </a:ext>
            </a:extLst>
          </p:cNvPr>
          <p:cNvSpPr>
            <a:spLocks noGrp="1"/>
          </p:cNvSpPr>
          <p:nvPr>
            <p:ph idx="1"/>
          </p:nvPr>
        </p:nvSpPr>
        <p:spPr/>
        <p:txBody>
          <a:bodyPr/>
          <a:lstStyle/>
          <a:p>
            <a:pPr>
              <a:spcAft>
                <a:spcPts val="600"/>
              </a:spcAft>
            </a:pPr>
            <a:r>
              <a:rPr lang="en-US" dirty="0"/>
              <a:t>Data summary in </a:t>
            </a:r>
            <a:r>
              <a:rPr lang="en-US" b="1" dirty="0">
                <a:solidFill>
                  <a:srgbClr val="C00000"/>
                </a:solidFill>
              </a:rPr>
              <a:t>connection with research question</a:t>
            </a:r>
          </a:p>
          <a:p>
            <a:pPr lvl="1">
              <a:spcAft>
                <a:spcPts val="600"/>
              </a:spcAft>
            </a:pPr>
            <a:r>
              <a:rPr lang="en-US" dirty="0"/>
              <a:t>Relatively short section </a:t>
            </a:r>
          </a:p>
          <a:p>
            <a:pPr lvl="1">
              <a:spcAft>
                <a:spcPts val="600"/>
              </a:spcAft>
            </a:pPr>
            <a:r>
              <a:rPr lang="en-US" dirty="0"/>
              <a:t>Audience alternates between text and accompanying figures </a:t>
            </a:r>
          </a:p>
          <a:p>
            <a:pPr lvl="1">
              <a:spcAft>
                <a:spcPts val="600"/>
              </a:spcAft>
            </a:pPr>
            <a:r>
              <a:rPr lang="en-US" dirty="0"/>
              <a:t>Many key findings/statistics are NOT in text, but in accompany tables/figures </a:t>
            </a:r>
          </a:p>
          <a:p>
            <a:pPr lvl="2">
              <a:spcAft>
                <a:spcPts val="600"/>
              </a:spcAft>
            </a:pPr>
            <a:r>
              <a:rPr lang="en-US" dirty="0"/>
              <a:t>Relevant data/findings connect with goal of study </a:t>
            </a:r>
          </a:p>
          <a:p>
            <a:pPr marL="457200" lvl="1" indent="0">
              <a:buNone/>
            </a:pPr>
            <a:endParaRPr lang="en-US" dirty="0"/>
          </a:p>
        </p:txBody>
      </p:sp>
    </p:spTree>
    <p:extLst>
      <p:ext uri="{BB962C8B-B14F-4D97-AF65-F5344CB8AC3E}">
        <p14:creationId xmlns:p14="http://schemas.microsoft.com/office/powerpoint/2010/main" val="1091220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8B98B-D95A-EDCF-BFB6-174BFDC12C44}"/>
              </a:ext>
            </a:extLst>
          </p:cNvPr>
          <p:cNvSpPr>
            <a:spLocks noGrp="1"/>
          </p:cNvSpPr>
          <p:nvPr>
            <p:ph type="title"/>
          </p:nvPr>
        </p:nvSpPr>
        <p:spPr/>
        <p:txBody>
          <a:bodyPr/>
          <a:lstStyle/>
          <a:p>
            <a:r>
              <a:rPr lang="en-US" dirty="0"/>
              <a:t>Structure: Overview </a:t>
            </a:r>
          </a:p>
        </p:txBody>
      </p:sp>
      <p:sp>
        <p:nvSpPr>
          <p:cNvPr id="3" name="Content Placeholder 2">
            <a:extLst>
              <a:ext uri="{FF2B5EF4-FFF2-40B4-BE49-F238E27FC236}">
                <a16:creationId xmlns:a16="http://schemas.microsoft.com/office/drawing/2014/main" id="{2C3E9108-8692-9280-430C-84AD3E4F5BD1}"/>
              </a:ext>
            </a:extLst>
          </p:cNvPr>
          <p:cNvSpPr>
            <a:spLocks noGrp="1"/>
          </p:cNvSpPr>
          <p:nvPr>
            <p:ph idx="1"/>
          </p:nvPr>
        </p:nvSpPr>
        <p:spPr>
          <a:xfrm>
            <a:off x="838200" y="1825625"/>
            <a:ext cx="8472055" cy="4351338"/>
          </a:xfrm>
        </p:spPr>
        <p:txBody>
          <a:bodyPr>
            <a:normAutofit/>
          </a:bodyPr>
          <a:lstStyle/>
          <a:p>
            <a:pPr>
              <a:spcAft>
                <a:spcPts val="600"/>
              </a:spcAft>
            </a:pPr>
            <a:r>
              <a:rPr lang="en-US" dirty="0"/>
              <a:t>Scale in complexity of analysis </a:t>
            </a:r>
          </a:p>
          <a:p>
            <a:pPr lvl="1">
              <a:spcAft>
                <a:spcPts val="600"/>
              </a:spcAft>
            </a:pPr>
            <a:r>
              <a:rPr lang="en-US" dirty="0"/>
              <a:t>Univariate </a:t>
            </a:r>
          </a:p>
          <a:p>
            <a:pPr lvl="1">
              <a:spcAft>
                <a:spcPts val="600"/>
              </a:spcAft>
            </a:pPr>
            <a:r>
              <a:rPr lang="en-US" dirty="0"/>
              <a:t>Bivariate </a:t>
            </a:r>
          </a:p>
          <a:p>
            <a:pPr lvl="1">
              <a:spcAft>
                <a:spcPts val="600"/>
              </a:spcAft>
            </a:pPr>
            <a:r>
              <a:rPr lang="en-US" dirty="0"/>
              <a:t>Multivariate </a:t>
            </a:r>
          </a:p>
          <a:p>
            <a:pPr lvl="1">
              <a:spcAft>
                <a:spcPts val="600"/>
              </a:spcAft>
            </a:pPr>
            <a:r>
              <a:rPr lang="en-US" dirty="0"/>
              <a:t>Additional analysis (</a:t>
            </a:r>
            <a:r>
              <a:rPr lang="en-US" dirty="0" err="1"/>
              <a:t>e.g</a:t>
            </a:r>
            <a:r>
              <a:rPr lang="en-US" dirty="0"/>
              <a:t> heterogeneity/trend)</a:t>
            </a:r>
          </a:p>
          <a:p>
            <a:pPr marL="457200" lvl="1" indent="0">
              <a:buNone/>
            </a:pPr>
            <a:endParaRPr lang="en-US" dirty="0"/>
          </a:p>
        </p:txBody>
      </p:sp>
    </p:spTree>
    <p:extLst>
      <p:ext uri="{BB962C8B-B14F-4D97-AF65-F5344CB8AC3E}">
        <p14:creationId xmlns:p14="http://schemas.microsoft.com/office/powerpoint/2010/main" val="1325520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4A43E-0220-0199-20A2-9B3B24DAF2C3}"/>
              </a:ext>
            </a:extLst>
          </p:cNvPr>
          <p:cNvSpPr>
            <a:spLocks noGrp="1"/>
          </p:cNvSpPr>
          <p:nvPr>
            <p:ph type="title"/>
          </p:nvPr>
        </p:nvSpPr>
        <p:spPr/>
        <p:txBody>
          <a:bodyPr/>
          <a:lstStyle/>
          <a:p>
            <a:r>
              <a:rPr lang="en-US" dirty="0"/>
              <a:t>Structure: Descriptive Statistics </a:t>
            </a:r>
          </a:p>
        </p:txBody>
      </p:sp>
      <p:sp>
        <p:nvSpPr>
          <p:cNvPr id="3" name="Content Placeholder 2">
            <a:extLst>
              <a:ext uri="{FF2B5EF4-FFF2-40B4-BE49-F238E27FC236}">
                <a16:creationId xmlns:a16="http://schemas.microsoft.com/office/drawing/2014/main" id="{2D8E3B8A-3660-0174-572A-2C8748BE7EBD}"/>
              </a:ext>
            </a:extLst>
          </p:cNvPr>
          <p:cNvSpPr>
            <a:spLocks noGrp="1"/>
          </p:cNvSpPr>
          <p:nvPr>
            <p:ph idx="1"/>
          </p:nvPr>
        </p:nvSpPr>
        <p:spPr>
          <a:xfrm>
            <a:off x="707571" y="1811111"/>
            <a:ext cx="10515600" cy="4351338"/>
          </a:xfrm>
        </p:spPr>
        <p:txBody>
          <a:bodyPr/>
          <a:lstStyle/>
          <a:p>
            <a:pPr>
              <a:spcAft>
                <a:spcPts val="600"/>
              </a:spcAft>
            </a:pPr>
            <a:r>
              <a:rPr lang="en-US" dirty="0"/>
              <a:t>Start with description of sample (demographics, distribution of exposure or outcome) </a:t>
            </a:r>
          </a:p>
          <a:p>
            <a:pPr>
              <a:spcAft>
                <a:spcPts val="600"/>
              </a:spcAft>
            </a:pPr>
            <a:r>
              <a:rPr lang="en-US" dirty="0"/>
              <a:t>Highlight key trends in study population </a:t>
            </a:r>
          </a:p>
          <a:p>
            <a:pPr lvl="1">
              <a:spcAft>
                <a:spcPts val="600"/>
              </a:spcAft>
            </a:pPr>
            <a:r>
              <a:rPr lang="en-US" dirty="0"/>
              <a:t>Descriptive statistics </a:t>
            </a:r>
          </a:p>
          <a:p>
            <a:pPr lvl="2">
              <a:spcAft>
                <a:spcPts val="600"/>
              </a:spcAft>
            </a:pPr>
            <a:r>
              <a:rPr lang="en-US" dirty="0"/>
              <a:t>Univariate </a:t>
            </a:r>
          </a:p>
          <a:p>
            <a:pPr lvl="2">
              <a:spcAft>
                <a:spcPts val="600"/>
              </a:spcAft>
            </a:pPr>
            <a:r>
              <a:rPr lang="en-US" dirty="0"/>
              <a:t>Bivariate </a:t>
            </a:r>
          </a:p>
        </p:txBody>
      </p:sp>
    </p:spTree>
    <p:extLst>
      <p:ext uri="{BB962C8B-B14F-4D97-AF65-F5344CB8AC3E}">
        <p14:creationId xmlns:p14="http://schemas.microsoft.com/office/powerpoint/2010/main" val="568734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9DEC5-E920-BDBB-CBBF-991A6E8CA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88F8F-961F-AD70-417C-EA554B669A62}"/>
              </a:ext>
            </a:extLst>
          </p:cNvPr>
          <p:cNvSpPr>
            <a:spLocks noGrp="1"/>
          </p:cNvSpPr>
          <p:nvPr>
            <p:ph type="title"/>
          </p:nvPr>
        </p:nvSpPr>
        <p:spPr/>
        <p:txBody>
          <a:bodyPr/>
          <a:lstStyle/>
          <a:p>
            <a:r>
              <a:rPr lang="en-US" dirty="0"/>
              <a:t>Structure: Descriptive Statistics </a:t>
            </a:r>
          </a:p>
        </p:txBody>
      </p:sp>
      <p:sp>
        <p:nvSpPr>
          <p:cNvPr id="3" name="Content Placeholder 2">
            <a:extLst>
              <a:ext uri="{FF2B5EF4-FFF2-40B4-BE49-F238E27FC236}">
                <a16:creationId xmlns:a16="http://schemas.microsoft.com/office/drawing/2014/main" id="{B07C9912-EC27-1A53-95E6-D59D59203AA2}"/>
              </a:ext>
            </a:extLst>
          </p:cNvPr>
          <p:cNvSpPr>
            <a:spLocks noGrp="1"/>
          </p:cNvSpPr>
          <p:nvPr>
            <p:ph idx="1"/>
          </p:nvPr>
        </p:nvSpPr>
        <p:spPr>
          <a:xfrm>
            <a:off x="707571" y="1811111"/>
            <a:ext cx="10515600" cy="4351338"/>
          </a:xfrm>
        </p:spPr>
        <p:txBody>
          <a:bodyPr>
            <a:normAutofit lnSpcReduction="10000"/>
          </a:bodyPr>
          <a:lstStyle/>
          <a:p>
            <a:r>
              <a:rPr lang="en-US" i="1" dirty="0"/>
              <a:t>“50.9% of participants identified female and 49.1% identified as male (Table 1). The average age across the study population was 47 years. The mean age across  food security categories besides the high food secure group (49) was 42 years . Non-Hispanic White adults represented majority of the population (42.8%), followed by Non-Hispanic Black (22.4%), Mexican American (15.5%), other Hispanic (9.0%), and individuals that identify with other racial identities or multi-racial (10.3%).  For education levels, 25.4% of participants had an education less than 9</a:t>
            </a:r>
            <a:r>
              <a:rPr lang="en-US" i="1" baseline="30000" dirty="0"/>
              <a:t>th</a:t>
            </a:r>
            <a:r>
              <a:rPr lang="en-US" i="1" dirty="0"/>
              <a:t> grade, 25.5% graduated from high school or an education equivalent, 27.4% attained some level of college, and 21.7% held a college degree or higher.”</a:t>
            </a:r>
            <a:endParaRPr lang="en-US" i="1" dirty="0">
              <a:effectLst/>
            </a:endParaRPr>
          </a:p>
        </p:txBody>
      </p:sp>
    </p:spTree>
    <p:extLst>
      <p:ext uri="{BB962C8B-B14F-4D97-AF65-F5344CB8AC3E}">
        <p14:creationId xmlns:p14="http://schemas.microsoft.com/office/powerpoint/2010/main" val="2723647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F0B52-89A0-5CB0-882E-29613693A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E6D81-AE4F-8267-D761-2E895158DD78}"/>
              </a:ext>
            </a:extLst>
          </p:cNvPr>
          <p:cNvSpPr>
            <a:spLocks noGrp="1"/>
          </p:cNvSpPr>
          <p:nvPr>
            <p:ph type="title"/>
          </p:nvPr>
        </p:nvSpPr>
        <p:spPr/>
        <p:txBody>
          <a:bodyPr/>
          <a:lstStyle/>
          <a:p>
            <a:r>
              <a:rPr lang="en-US" dirty="0"/>
              <a:t>Structure: Descriptive Statistics </a:t>
            </a:r>
          </a:p>
        </p:txBody>
      </p:sp>
      <p:sp>
        <p:nvSpPr>
          <p:cNvPr id="3" name="Content Placeholder 2">
            <a:extLst>
              <a:ext uri="{FF2B5EF4-FFF2-40B4-BE49-F238E27FC236}">
                <a16:creationId xmlns:a16="http://schemas.microsoft.com/office/drawing/2014/main" id="{9AD1FE19-F41E-EB29-3DEC-F52DAF76A154}"/>
              </a:ext>
            </a:extLst>
          </p:cNvPr>
          <p:cNvSpPr>
            <a:spLocks noGrp="1"/>
          </p:cNvSpPr>
          <p:nvPr>
            <p:ph idx="1"/>
          </p:nvPr>
        </p:nvSpPr>
        <p:spPr>
          <a:xfrm>
            <a:off x="707571" y="1811111"/>
            <a:ext cx="10515600" cy="4351338"/>
          </a:xfrm>
        </p:spPr>
        <p:txBody>
          <a:bodyPr>
            <a:normAutofit lnSpcReduction="10000"/>
          </a:bodyPr>
          <a:lstStyle/>
          <a:p>
            <a:r>
              <a:rPr lang="en-US" i="1" dirty="0"/>
              <a:t>“50.9% of participants identified female </a:t>
            </a:r>
            <a:r>
              <a:rPr lang="en-US" i="1" dirty="0">
                <a:solidFill>
                  <a:srgbClr val="FFC000"/>
                </a:solidFill>
              </a:rPr>
              <a:t>and 49.1% identified as male (Table 1</a:t>
            </a:r>
            <a:r>
              <a:rPr lang="en-US" i="1" dirty="0"/>
              <a:t>). </a:t>
            </a:r>
            <a:r>
              <a:rPr lang="en-US" i="1" dirty="0">
                <a:solidFill>
                  <a:srgbClr val="FFC000"/>
                </a:solidFill>
              </a:rPr>
              <a:t>The average age across the study population was 47 years. The mean age across  food security categories besides the high food secure group (49) was 42 years </a:t>
            </a:r>
            <a:r>
              <a:rPr lang="en-US" i="1" dirty="0"/>
              <a:t>. Non-Hispanic White adults represented majority of the population (42.8%), followed by Non-Hispanic Black (22.4%), </a:t>
            </a:r>
            <a:r>
              <a:rPr lang="en-US" i="1" dirty="0">
                <a:solidFill>
                  <a:srgbClr val="FFC000"/>
                </a:solidFill>
              </a:rPr>
              <a:t>Mexican American (15.5%), other Hispanic (9.0%), and individuals that identify with other racial identities or multi-racial (10.3%).  </a:t>
            </a:r>
            <a:r>
              <a:rPr lang="en-US" i="1" dirty="0"/>
              <a:t>For education levels, 25.4% of participants had an education less than 9</a:t>
            </a:r>
            <a:r>
              <a:rPr lang="en-US" i="1" baseline="30000" dirty="0"/>
              <a:t>th</a:t>
            </a:r>
            <a:r>
              <a:rPr lang="en-US" i="1" dirty="0"/>
              <a:t> grade, 25.5% graduated from high school or an education equivalent, 27.4% attained some level of college, and 21.7% held a college degree or higher.”</a:t>
            </a:r>
            <a:endParaRPr lang="en-US" i="1" dirty="0">
              <a:effectLst/>
            </a:endParaRPr>
          </a:p>
        </p:txBody>
      </p:sp>
    </p:spTree>
    <p:extLst>
      <p:ext uri="{BB962C8B-B14F-4D97-AF65-F5344CB8AC3E}">
        <p14:creationId xmlns:p14="http://schemas.microsoft.com/office/powerpoint/2010/main" val="2238364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A059D-2D75-4542-63FE-511CC0A6E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C213D-F876-318B-CE31-D70869C28875}"/>
              </a:ext>
            </a:extLst>
          </p:cNvPr>
          <p:cNvSpPr>
            <a:spLocks noGrp="1"/>
          </p:cNvSpPr>
          <p:nvPr>
            <p:ph type="title"/>
          </p:nvPr>
        </p:nvSpPr>
        <p:spPr/>
        <p:txBody>
          <a:bodyPr/>
          <a:lstStyle/>
          <a:p>
            <a:r>
              <a:rPr lang="en-US" dirty="0"/>
              <a:t>Structure: Descriptive Statistics </a:t>
            </a:r>
          </a:p>
        </p:txBody>
      </p:sp>
      <p:pic>
        <p:nvPicPr>
          <p:cNvPr id="6" name="Picture 5">
            <a:extLst>
              <a:ext uri="{FF2B5EF4-FFF2-40B4-BE49-F238E27FC236}">
                <a16:creationId xmlns:a16="http://schemas.microsoft.com/office/drawing/2014/main" id="{BD222B30-C07B-B86C-94AD-1A92D9F73D81}"/>
              </a:ext>
            </a:extLst>
          </p:cNvPr>
          <p:cNvPicPr>
            <a:picLocks noChangeAspect="1"/>
          </p:cNvPicPr>
          <p:nvPr/>
        </p:nvPicPr>
        <p:blipFill>
          <a:blip r:embed="rId3"/>
          <a:srcRect/>
          <a:stretch/>
        </p:blipFill>
        <p:spPr>
          <a:xfrm>
            <a:off x="6040980" y="1611765"/>
            <a:ext cx="5312820" cy="4881110"/>
          </a:xfrm>
          <a:prstGeom prst="rect">
            <a:avLst/>
          </a:prstGeom>
        </p:spPr>
      </p:pic>
      <p:sp>
        <p:nvSpPr>
          <p:cNvPr id="7" name="TextBox 6">
            <a:extLst>
              <a:ext uri="{FF2B5EF4-FFF2-40B4-BE49-F238E27FC236}">
                <a16:creationId xmlns:a16="http://schemas.microsoft.com/office/drawing/2014/main" id="{2674F97D-0658-518E-5A72-4168132618DE}"/>
              </a:ext>
            </a:extLst>
          </p:cNvPr>
          <p:cNvSpPr txBox="1"/>
          <p:nvPr/>
        </p:nvSpPr>
        <p:spPr>
          <a:xfrm>
            <a:off x="290286" y="1951672"/>
            <a:ext cx="5312820" cy="3970318"/>
          </a:xfrm>
          <a:prstGeom prst="rect">
            <a:avLst/>
          </a:prstGeom>
          <a:noFill/>
        </p:spPr>
        <p:txBody>
          <a:bodyPr wrap="square" rtlCol="0">
            <a:spAutoFit/>
          </a:bodyPr>
          <a:lstStyle/>
          <a:p>
            <a:endParaRPr lang="en-US" i="1" dirty="0">
              <a:solidFill>
                <a:srgbClr val="C00000"/>
              </a:solidFill>
            </a:endParaRPr>
          </a:p>
          <a:p>
            <a:r>
              <a:rPr lang="en-US" i="1" dirty="0">
                <a:solidFill>
                  <a:srgbClr val="C00000"/>
                </a:solidFill>
              </a:rPr>
              <a:t>0</a:t>
            </a:r>
          </a:p>
          <a:p>
            <a:r>
              <a:rPr lang="en-US" i="1" dirty="0">
                <a:solidFill>
                  <a:srgbClr val="C00000"/>
                </a:solidFill>
              </a:rPr>
              <a:t>.</a:t>
            </a:r>
            <a:endParaRPr lang="en-US" dirty="0"/>
          </a:p>
          <a:p>
            <a:r>
              <a:rPr lang="en-US" dirty="0"/>
              <a:t>What stands out? </a:t>
            </a:r>
          </a:p>
          <a:p>
            <a:endParaRPr lang="en-US" dirty="0"/>
          </a:p>
          <a:p>
            <a:r>
              <a:rPr lang="en-US" dirty="0"/>
              <a:t>What stands out in relation to the exposure?</a:t>
            </a:r>
          </a:p>
          <a:p>
            <a:endParaRPr lang="en-US" dirty="0"/>
          </a:p>
          <a:p>
            <a:r>
              <a:rPr lang="en-US" dirty="0"/>
              <a:t>What proportion of individuals are exposed/total? </a:t>
            </a:r>
          </a:p>
          <a:p>
            <a:endParaRPr lang="en-US" dirty="0"/>
          </a:p>
          <a:p>
            <a:r>
              <a:rPr lang="en-US" dirty="0"/>
              <a:t>Additional questions to consider: </a:t>
            </a:r>
          </a:p>
          <a:p>
            <a:endParaRPr lang="en-US" dirty="0"/>
          </a:p>
          <a:p>
            <a:r>
              <a:rPr lang="en-US" dirty="0"/>
              <a:t>Deviations in distribution of covariates?  </a:t>
            </a:r>
          </a:p>
          <a:p>
            <a:r>
              <a:rPr lang="en-US" dirty="0"/>
              <a:t>Potential confounding/selection? </a:t>
            </a:r>
          </a:p>
          <a:p>
            <a:r>
              <a:rPr lang="en-US" dirty="0"/>
              <a:t>Potential subgroup indicators? </a:t>
            </a:r>
          </a:p>
        </p:txBody>
      </p:sp>
    </p:spTree>
    <p:extLst>
      <p:ext uri="{BB962C8B-B14F-4D97-AF65-F5344CB8AC3E}">
        <p14:creationId xmlns:p14="http://schemas.microsoft.com/office/powerpoint/2010/main" val="784525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F8E7B-2ADB-2F93-5AB1-2A247079CA25}"/>
              </a:ext>
            </a:extLst>
          </p:cNvPr>
          <p:cNvSpPr>
            <a:spLocks noGrp="1"/>
          </p:cNvSpPr>
          <p:nvPr>
            <p:ph type="title"/>
          </p:nvPr>
        </p:nvSpPr>
        <p:spPr>
          <a:xfrm>
            <a:off x="838200" y="38780"/>
            <a:ext cx="10515600" cy="1325563"/>
          </a:xfrm>
        </p:spPr>
        <p:txBody>
          <a:bodyPr/>
          <a:lstStyle/>
          <a:p>
            <a:r>
              <a:rPr lang="en-US" dirty="0"/>
              <a:t>Structure: Main Analysis </a:t>
            </a:r>
          </a:p>
        </p:txBody>
      </p:sp>
      <p:sp>
        <p:nvSpPr>
          <p:cNvPr id="3" name="Content Placeholder 2">
            <a:extLst>
              <a:ext uri="{FF2B5EF4-FFF2-40B4-BE49-F238E27FC236}">
                <a16:creationId xmlns:a16="http://schemas.microsoft.com/office/drawing/2014/main" id="{86D3BBA5-0D07-330C-6C48-AA7E4C111DDD}"/>
              </a:ext>
            </a:extLst>
          </p:cNvPr>
          <p:cNvSpPr>
            <a:spLocks noGrp="1"/>
          </p:cNvSpPr>
          <p:nvPr>
            <p:ph idx="1"/>
          </p:nvPr>
        </p:nvSpPr>
        <p:spPr>
          <a:xfrm>
            <a:off x="638629" y="1115106"/>
            <a:ext cx="10715171" cy="5704114"/>
          </a:xfrm>
        </p:spPr>
        <p:txBody>
          <a:bodyPr>
            <a:normAutofit/>
          </a:bodyPr>
          <a:lstStyle/>
          <a:p>
            <a:r>
              <a:rPr lang="en-US" dirty="0"/>
              <a:t>Description of key findings from unadjusted</a:t>
            </a:r>
            <a:r>
              <a:rPr lang="en-US" baseline="30000" dirty="0"/>
              <a:t>* </a:t>
            </a:r>
            <a:r>
              <a:rPr lang="en-US" dirty="0"/>
              <a:t>and adjusted of </a:t>
            </a:r>
            <a:r>
              <a:rPr lang="en-US" b="1" dirty="0">
                <a:solidFill>
                  <a:srgbClr val="C00000"/>
                </a:solidFill>
              </a:rPr>
              <a:t>primary exposure/primary outcome</a:t>
            </a:r>
          </a:p>
          <a:p>
            <a:pPr lvl="1"/>
            <a:r>
              <a:rPr lang="en-US" dirty="0"/>
              <a:t>Table 2 or 3; Figure 1 or 2</a:t>
            </a:r>
          </a:p>
          <a:p>
            <a:pPr marL="457200" lvl="1" indent="0">
              <a:buNone/>
            </a:pPr>
            <a:endParaRPr lang="en-US" b="1" dirty="0">
              <a:solidFill>
                <a:srgbClr val="C00000"/>
              </a:solidFill>
            </a:endParaRPr>
          </a:p>
          <a:p>
            <a:r>
              <a:rPr lang="en-US" dirty="0"/>
              <a:t>Focus on significant findings if present, </a:t>
            </a:r>
            <a:r>
              <a:rPr lang="en-US" dirty="0">
                <a:solidFill>
                  <a:srgbClr val="C00000"/>
                </a:solidFill>
              </a:rPr>
              <a:t>in the context of objective/ hypothesis. </a:t>
            </a:r>
          </a:p>
          <a:p>
            <a:pPr lvl="1"/>
            <a:r>
              <a:rPr lang="en-US" dirty="0"/>
              <a:t>Generally do not include p-values unless for test of heterogeneity/trends etc. </a:t>
            </a:r>
            <a:endParaRPr lang="en-US" b="1" dirty="0">
              <a:solidFill>
                <a:srgbClr val="C00000"/>
              </a:solidFill>
            </a:endParaRPr>
          </a:p>
          <a:p>
            <a:pPr marL="457200" lvl="1" indent="0">
              <a:buNone/>
            </a:pPr>
            <a:endParaRPr lang="en-US" b="1" dirty="0">
              <a:solidFill>
                <a:srgbClr val="C00000"/>
              </a:solidFill>
            </a:endParaRPr>
          </a:p>
          <a:p>
            <a:r>
              <a:rPr lang="en-US" dirty="0"/>
              <a:t>Highlight measure of association [measure of certainty] </a:t>
            </a:r>
          </a:p>
          <a:p>
            <a:pPr lvl="1"/>
            <a:r>
              <a:rPr lang="en-US" dirty="0"/>
              <a:t>Odds Ratio [95% CI] </a:t>
            </a:r>
          </a:p>
          <a:p>
            <a:pPr lvl="1"/>
            <a:r>
              <a:rPr lang="en-US" dirty="0"/>
              <a:t>Rate Ratio [95% CI] </a:t>
            </a:r>
          </a:p>
          <a:p>
            <a:pPr lvl="1"/>
            <a:r>
              <a:rPr lang="en-US" dirty="0"/>
              <a:t>Percent Difference [95% CI] </a:t>
            </a:r>
          </a:p>
          <a:p>
            <a:pPr marL="457200" lvl="1" indent="0">
              <a:buNone/>
            </a:pPr>
            <a:endParaRPr lang="en-US" dirty="0"/>
          </a:p>
        </p:txBody>
      </p:sp>
    </p:spTree>
    <p:extLst>
      <p:ext uri="{BB962C8B-B14F-4D97-AF65-F5344CB8AC3E}">
        <p14:creationId xmlns:p14="http://schemas.microsoft.com/office/powerpoint/2010/main" val="917297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C00D1-A72F-EB27-ACAD-80939FC258F6}"/>
              </a:ext>
            </a:extLst>
          </p:cNvPr>
          <p:cNvSpPr>
            <a:spLocks noGrp="1"/>
          </p:cNvSpPr>
          <p:nvPr>
            <p:ph type="title"/>
          </p:nvPr>
        </p:nvSpPr>
        <p:spPr/>
        <p:txBody>
          <a:bodyPr/>
          <a:lstStyle/>
          <a:p>
            <a:r>
              <a:rPr lang="en-US" dirty="0"/>
              <a:t>Structure: Main Analysis </a:t>
            </a:r>
          </a:p>
        </p:txBody>
      </p:sp>
      <p:sp>
        <p:nvSpPr>
          <p:cNvPr id="3" name="Content Placeholder 2">
            <a:extLst>
              <a:ext uri="{FF2B5EF4-FFF2-40B4-BE49-F238E27FC236}">
                <a16:creationId xmlns:a16="http://schemas.microsoft.com/office/drawing/2014/main" id="{1C187533-9CB6-F981-669F-010A85F81653}"/>
              </a:ext>
            </a:extLst>
          </p:cNvPr>
          <p:cNvSpPr>
            <a:spLocks noGrp="1"/>
          </p:cNvSpPr>
          <p:nvPr>
            <p:ph idx="1"/>
          </p:nvPr>
        </p:nvSpPr>
        <p:spPr/>
        <p:txBody>
          <a:bodyPr/>
          <a:lstStyle/>
          <a:p>
            <a:r>
              <a:rPr lang="en-US" dirty="0"/>
              <a:t>Additional tips: </a:t>
            </a:r>
          </a:p>
          <a:p>
            <a:pPr lvl="1"/>
            <a:r>
              <a:rPr lang="en-US" dirty="0"/>
              <a:t>Present findings with experimental/exposed group compared to reference</a:t>
            </a:r>
          </a:p>
          <a:p>
            <a:pPr lvl="1"/>
            <a:r>
              <a:rPr lang="en-US" dirty="0"/>
              <a:t>Highlight findings with tables/figures referenced</a:t>
            </a:r>
          </a:p>
          <a:p>
            <a:pPr lvl="1"/>
            <a:r>
              <a:rPr lang="en-US" dirty="0"/>
              <a:t>Use the same order when presenting data </a:t>
            </a:r>
          </a:p>
          <a:p>
            <a:pPr lvl="1"/>
            <a:r>
              <a:rPr lang="en-US" dirty="0"/>
              <a:t>Use similar sentences/words to present similar trends </a:t>
            </a:r>
          </a:p>
          <a:p>
            <a:pPr lvl="2"/>
            <a:r>
              <a:rPr lang="en-US" dirty="0"/>
              <a:t>Yes this will feel redundant! </a:t>
            </a:r>
          </a:p>
          <a:p>
            <a:pPr lvl="1"/>
            <a:r>
              <a:rPr lang="en-US" dirty="0"/>
              <a:t> Consistently use decimals for reporting figures </a:t>
            </a:r>
          </a:p>
          <a:p>
            <a:pPr lvl="1"/>
            <a:endParaRPr lang="en-US" dirty="0"/>
          </a:p>
        </p:txBody>
      </p:sp>
    </p:spTree>
    <p:extLst>
      <p:ext uri="{BB962C8B-B14F-4D97-AF65-F5344CB8AC3E}">
        <p14:creationId xmlns:p14="http://schemas.microsoft.com/office/powerpoint/2010/main" val="4271822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A4718-F1B0-B720-DBC6-834A5763F808}"/>
              </a:ext>
            </a:extLst>
          </p:cNvPr>
          <p:cNvSpPr>
            <a:spLocks noGrp="1"/>
          </p:cNvSpPr>
          <p:nvPr>
            <p:ph type="title"/>
          </p:nvPr>
        </p:nvSpPr>
        <p:spPr>
          <a:xfrm>
            <a:off x="838200" y="111351"/>
            <a:ext cx="10515600" cy="1325563"/>
          </a:xfrm>
        </p:spPr>
        <p:txBody>
          <a:bodyPr/>
          <a:lstStyle/>
          <a:p>
            <a:r>
              <a:rPr lang="en-US" dirty="0"/>
              <a:t>Structure: Main Analysis </a:t>
            </a:r>
          </a:p>
        </p:txBody>
      </p:sp>
      <p:sp>
        <p:nvSpPr>
          <p:cNvPr id="3" name="Content Placeholder 2">
            <a:extLst>
              <a:ext uri="{FF2B5EF4-FFF2-40B4-BE49-F238E27FC236}">
                <a16:creationId xmlns:a16="http://schemas.microsoft.com/office/drawing/2014/main" id="{198A173A-2935-5049-D0F7-F04789F9AD21}"/>
              </a:ext>
            </a:extLst>
          </p:cNvPr>
          <p:cNvSpPr>
            <a:spLocks noGrp="1"/>
          </p:cNvSpPr>
          <p:nvPr>
            <p:ph idx="1"/>
          </p:nvPr>
        </p:nvSpPr>
        <p:spPr>
          <a:xfrm>
            <a:off x="838200" y="1436914"/>
            <a:ext cx="10515600" cy="5587999"/>
          </a:xfrm>
        </p:spPr>
        <p:txBody>
          <a:bodyPr>
            <a:normAutofit/>
          </a:bodyPr>
          <a:lstStyle/>
          <a:p>
            <a:r>
              <a:rPr lang="en-US" i="1" dirty="0"/>
              <a:t>“For BPA, percent differences ranged from 1.80% in the marginal group to 7.61% in the very low food security group, with 95% confidence intervals from –5.91% to 21.23%.” </a:t>
            </a:r>
          </a:p>
          <a:p>
            <a:endParaRPr lang="en-US" i="1" dirty="0"/>
          </a:p>
          <a:p>
            <a:r>
              <a:rPr lang="en-US" i="1" dirty="0">
                <a:solidFill>
                  <a:srgbClr val="C00000"/>
                </a:solidFill>
              </a:rPr>
              <a:t>Recall: We are interested in the association between some exposure and some outcome. </a:t>
            </a:r>
          </a:p>
          <a:p>
            <a:pPr lvl="1"/>
            <a:r>
              <a:rPr lang="en-US" i="1" dirty="0">
                <a:solidFill>
                  <a:srgbClr val="C00000"/>
                </a:solidFill>
              </a:rPr>
              <a:t>That is does the distribution of Y depend on the presence of A? </a:t>
            </a:r>
          </a:p>
          <a:p>
            <a:pPr lvl="1"/>
            <a:r>
              <a:rPr lang="en-US" i="1" dirty="0">
                <a:solidFill>
                  <a:srgbClr val="C00000"/>
                </a:solidFill>
              </a:rPr>
              <a:t>What is the magnitude of the measure of the strength of the association we estimate (</a:t>
            </a:r>
            <a:r>
              <a:rPr lang="en-US" i="1" dirty="0" err="1">
                <a:solidFill>
                  <a:srgbClr val="C00000"/>
                </a:solidFill>
              </a:rPr>
              <a:t>i.e</a:t>
            </a:r>
            <a:r>
              <a:rPr lang="en-US" i="1" dirty="0">
                <a:solidFill>
                  <a:srgbClr val="C00000"/>
                </a:solidFill>
              </a:rPr>
              <a:t> % difference)?  Is it significant? Is it meaningful? </a:t>
            </a:r>
          </a:p>
        </p:txBody>
      </p:sp>
    </p:spTree>
    <p:extLst>
      <p:ext uri="{BB962C8B-B14F-4D97-AF65-F5344CB8AC3E}">
        <p14:creationId xmlns:p14="http://schemas.microsoft.com/office/powerpoint/2010/main" val="29336696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185D8-F40B-A9AF-C038-6C25BCEF2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9BB20-9222-67A3-230B-4A932C030833}"/>
              </a:ext>
            </a:extLst>
          </p:cNvPr>
          <p:cNvSpPr>
            <a:spLocks noGrp="1"/>
          </p:cNvSpPr>
          <p:nvPr>
            <p:ph type="title"/>
          </p:nvPr>
        </p:nvSpPr>
        <p:spPr/>
        <p:txBody>
          <a:bodyPr/>
          <a:lstStyle/>
          <a:p>
            <a:r>
              <a:rPr lang="en-US" dirty="0"/>
              <a:t>Structure: Main Analysis </a:t>
            </a:r>
          </a:p>
        </p:txBody>
      </p:sp>
      <p:sp>
        <p:nvSpPr>
          <p:cNvPr id="3" name="Content Placeholder 2">
            <a:extLst>
              <a:ext uri="{FF2B5EF4-FFF2-40B4-BE49-F238E27FC236}">
                <a16:creationId xmlns:a16="http://schemas.microsoft.com/office/drawing/2014/main" id="{C0E51948-4B77-29D5-1E84-8C01100BE20C}"/>
              </a:ext>
            </a:extLst>
          </p:cNvPr>
          <p:cNvSpPr>
            <a:spLocks noGrp="1"/>
          </p:cNvSpPr>
          <p:nvPr>
            <p:ph idx="1"/>
          </p:nvPr>
        </p:nvSpPr>
        <p:spPr/>
        <p:txBody>
          <a:bodyPr/>
          <a:lstStyle/>
          <a:p>
            <a:r>
              <a:rPr lang="en-US" i="1" dirty="0"/>
              <a:t>“For </a:t>
            </a:r>
            <a:r>
              <a:rPr lang="en-US" i="1" dirty="0">
                <a:solidFill>
                  <a:srgbClr val="C00000"/>
                </a:solidFill>
              </a:rPr>
              <a:t>BPA</a:t>
            </a:r>
            <a:r>
              <a:rPr lang="en-US" i="1" dirty="0"/>
              <a:t>, percent differences </a:t>
            </a:r>
            <a:r>
              <a:rPr lang="en-US" i="1" strike="sngStrike" dirty="0"/>
              <a:t>ranged from </a:t>
            </a:r>
            <a:r>
              <a:rPr lang="en-US" i="1" dirty="0">
                <a:solidFill>
                  <a:srgbClr val="C00000"/>
                </a:solidFill>
              </a:rPr>
              <a:t>1.80%</a:t>
            </a:r>
            <a:r>
              <a:rPr lang="en-US" i="1" dirty="0"/>
              <a:t> in the </a:t>
            </a:r>
            <a:r>
              <a:rPr lang="en-US" b="1" i="1" dirty="0">
                <a:solidFill>
                  <a:srgbClr val="C00000"/>
                </a:solidFill>
              </a:rPr>
              <a:t>marginal</a:t>
            </a:r>
            <a:r>
              <a:rPr lang="en-US" i="1" dirty="0"/>
              <a:t> group to </a:t>
            </a:r>
            <a:r>
              <a:rPr lang="en-US" i="1" dirty="0">
                <a:solidFill>
                  <a:srgbClr val="C00000"/>
                </a:solidFill>
              </a:rPr>
              <a:t>7.61</a:t>
            </a:r>
            <a:r>
              <a:rPr lang="en-US" i="1" dirty="0"/>
              <a:t>% in the </a:t>
            </a:r>
            <a:r>
              <a:rPr lang="en-US" i="1" dirty="0">
                <a:solidFill>
                  <a:srgbClr val="C00000"/>
                </a:solidFill>
              </a:rPr>
              <a:t>very low food security group</a:t>
            </a:r>
            <a:r>
              <a:rPr lang="en-US" i="1" dirty="0"/>
              <a:t>, </a:t>
            </a:r>
            <a:r>
              <a:rPr lang="en-US" b="1" i="1" dirty="0">
                <a:solidFill>
                  <a:schemeClr val="accent2"/>
                </a:solidFill>
              </a:rPr>
              <a:t>with 95% confidence intervals from –5.91% to 21.23%.</a:t>
            </a:r>
            <a:r>
              <a:rPr lang="en-US" i="1" dirty="0"/>
              <a:t>” </a:t>
            </a:r>
          </a:p>
          <a:p>
            <a:pPr marL="0" indent="0">
              <a:buNone/>
            </a:pPr>
            <a:endParaRPr lang="en-US" i="1" dirty="0"/>
          </a:p>
          <a:p>
            <a:pPr lvl="1"/>
            <a:r>
              <a:rPr lang="en-US" i="1" dirty="0">
                <a:solidFill>
                  <a:srgbClr val="C00000"/>
                </a:solidFill>
              </a:rPr>
              <a:t>Compared to who? </a:t>
            </a:r>
            <a:r>
              <a:rPr lang="en-US" i="1" dirty="0" err="1">
                <a:solidFill>
                  <a:srgbClr val="C00000"/>
                </a:solidFill>
              </a:rPr>
              <a:t>i.e</a:t>
            </a:r>
            <a:r>
              <a:rPr lang="en-US" i="1" dirty="0">
                <a:solidFill>
                  <a:srgbClr val="C00000"/>
                </a:solidFill>
              </a:rPr>
              <a:t> 1.80% Higher than who? </a:t>
            </a:r>
          </a:p>
          <a:p>
            <a:pPr lvl="1"/>
            <a:r>
              <a:rPr lang="en-US" i="1" dirty="0">
                <a:solidFill>
                  <a:srgbClr val="C00000"/>
                </a:solidFill>
              </a:rPr>
              <a:t>Were these values significant? </a:t>
            </a:r>
          </a:p>
          <a:p>
            <a:pPr lvl="1"/>
            <a:r>
              <a:rPr lang="en-US" i="1" dirty="0">
                <a:solidFill>
                  <a:srgbClr val="C00000"/>
                </a:solidFill>
              </a:rPr>
              <a:t>What was the measure of certainty for each? </a:t>
            </a:r>
          </a:p>
          <a:p>
            <a:pPr lvl="1"/>
            <a:r>
              <a:rPr lang="en-US" i="1" dirty="0">
                <a:solidFill>
                  <a:srgbClr val="C00000"/>
                </a:solidFill>
              </a:rPr>
              <a:t>This is a categorical exposure were there any notable trends across food security in the way the outcome changed? Does that matter? </a:t>
            </a:r>
          </a:p>
          <a:p>
            <a:pPr marL="0" indent="0">
              <a:buNone/>
            </a:pPr>
            <a:endParaRPr lang="en-US" i="1" dirty="0"/>
          </a:p>
        </p:txBody>
      </p:sp>
    </p:spTree>
    <p:extLst>
      <p:ext uri="{BB962C8B-B14F-4D97-AF65-F5344CB8AC3E}">
        <p14:creationId xmlns:p14="http://schemas.microsoft.com/office/powerpoint/2010/main" val="833627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8541B-B190-0AA9-75B3-ACEB7B8B7F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3BF60-4F83-CDD9-E8C2-970CD3A63139}"/>
              </a:ext>
            </a:extLst>
          </p:cNvPr>
          <p:cNvSpPr>
            <a:spLocks noGrp="1"/>
          </p:cNvSpPr>
          <p:nvPr>
            <p:ph type="title"/>
          </p:nvPr>
        </p:nvSpPr>
        <p:spPr/>
        <p:txBody>
          <a:bodyPr/>
          <a:lstStyle/>
          <a:p>
            <a:r>
              <a:rPr lang="en-US" dirty="0"/>
              <a:t>Structure: Main Analysis </a:t>
            </a:r>
          </a:p>
        </p:txBody>
      </p:sp>
      <p:sp>
        <p:nvSpPr>
          <p:cNvPr id="3" name="Content Placeholder 2">
            <a:extLst>
              <a:ext uri="{FF2B5EF4-FFF2-40B4-BE49-F238E27FC236}">
                <a16:creationId xmlns:a16="http://schemas.microsoft.com/office/drawing/2014/main" id="{0226DB1D-6218-FD0D-C24D-D922F7391896}"/>
              </a:ext>
            </a:extLst>
          </p:cNvPr>
          <p:cNvSpPr>
            <a:spLocks noGrp="1"/>
          </p:cNvSpPr>
          <p:nvPr>
            <p:ph idx="1"/>
          </p:nvPr>
        </p:nvSpPr>
        <p:spPr>
          <a:xfrm>
            <a:off x="838200" y="1690688"/>
            <a:ext cx="10515600" cy="4769077"/>
          </a:xfrm>
        </p:spPr>
        <p:txBody>
          <a:bodyPr>
            <a:normAutofit fontScale="92500" lnSpcReduction="20000"/>
          </a:bodyPr>
          <a:lstStyle/>
          <a:p>
            <a:r>
              <a:rPr lang="en-US" i="1" dirty="0"/>
              <a:t>“For </a:t>
            </a:r>
            <a:r>
              <a:rPr lang="en-US" i="1" dirty="0">
                <a:solidFill>
                  <a:srgbClr val="C00000"/>
                </a:solidFill>
              </a:rPr>
              <a:t>BPA</a:t>
            </a:r>
            <a:r>
              <a:rPr lang="en-US" i="1" dirty="0"/>
              <a:t>, percent differences </a:t>
            </a:r>
            <a:r>
              <a:rPr lang="en-US" i="1" strike="sngStrike" dirty="0"/>
              <a:t>ranged from </a:t>
            </a:r>
            <a:r>
              <a:rPr lang="en-US" i="1" dirty="0">
                <a:solidFill>
                  <a:srgbClr val="C00000"/>
                </a:solidFill>
              </a:rPr>
              <a:t>1.80%</a:t>
            </a:r>
            <a:r>
              <a:rPr lang="en-US" i="1" dirty="0"/>
              <a:t> in the </a:t>
            </a:r>
            <a:r>
              <a:rPr lang="en-US" b="1" i="1" dirty="0">
                <a:solidFill>
                  <a:srgbClr val="C00000"/>
                </a:solidFill>
              </a:rPr>
              <a:t>marginal</a:t>
            </a:r>
            <a:r>
              <a:rPr lang="en-US" i="1" dirty="0"/>
              <a:t> group to </a:t>
            </a:r>
            <a:r>
              <a:rPr lang="en-US" i="1" dirty="0">
                <a:solidFill>
                  <a:srgbClr val="C00000"/>
                </a:solidFill>
              </a:rPr>
              <a:t>7.61</a:t>
            </a:r>
            <a:r>
              <a:rPr lang="en-US" i="1" dirty="0"/>
              <a:t>% in the </a:t>
            </a:r>
            <a:r>
              <a:rPr lang="en-US" i="1" dirty="0">
                <a:solidFill>
                  <a:srgbClr val="C00000"/>
                </a:solidFill>
              </a:rPr>
              <a:t>very low food security group</a:t>
            </a:r>
            <a:r>
              <a:rPr lang="en-US" i="1" dirty="0"/>
              <a:t>, </a:t>
            </a:r>
            <a:r>
              <a:rPr lang="en-US" b="1" i="1" dirty="0">
                <a:solidFill>
                  <a:schemeClr val="accent2"/>
                </a:solidFill>
              </a:rPr>
              <a:t>with 95% confidence intervals from –5.91% to 21.23%.</a:t>
            </a:r>
            <a:r>
              <a:rPr lang="en-US" i="1" dirty="0"/>
              <a:t>” </a:t>
            </a:r>
          </a:p>
          <a:p>
            <a:pPr marL="0" indent="0">
              <a:buNone/>
            </a:pPr>
            <a:endParaRPr lang="en-US" i="1" dirty="0"/>
          </a:p>
          <a:p>
            <a:pPr lvl="1"/>
            <a:r>
              <a:rPr lang="en-US" i="1" dirty="0">
                <a:solidFill>
                  <a:srgbClr val="C00000"/>
                </a:solidFill>
              </a:rPr>
              <a:t>Compared to who? i.e.  1.80% Higher than who? </a:t>
            </a:r>
          </a:p>
          <a:p>
            <a:pPr lvl="2"/>
            <a:r>
              <a:rPr lang="en-US" i="1" dirty="0"/>
              <a:t>Start with your comparison: marginal, low, and/or very low COMPARED to high food security individuals. </a:t>
            </a:r>
          </a:p>
          <a:p>
            <a:pPr lvl="1"/>
            <a:r>
              <a:rPr lang="en-US" i="1" dirty="0">
                <a:solidFill>
                  <a:srgbClr val="C00000"/>
                </a:solidFill>
              </a:rPr>
              <a:t>Were these values significant? </a:t>
            </a:r>
          </a:p>
          <a:p>
            <a:pPr lvl="2"/>
            <a:r>
              <a:rPr lang="en-US" i="1" dirty="0"/>
              <a:t>Identify the significant association to better see picture of data. </a:t>
            </a:r>
          </a:p>
          <a:p>
            <a:pPr lvl="1"/>
            <a:r>
              <a:rPr lang="en-US" i="1" dirty="0">
                <a:solidFill>
                  <a:srgbClr val="C00000"/>
                </a:solidFill>
              </a:rPr>
              <a:t>What was the measure of certainty for each? </a:t>
            </a:r>
          </a:p>
          <a:p>
            <a:pPr lvl="2"/>
            <a:r>
              <a:rPr lang="en-US" i="1" dirty="0"/>
              <a:t>Always indicate keep measure of association w/ measure of certainty [% Difference (95% CI: Lower, Upper) </a:t>
            </a:r>
          </a:p>
          <a:p>
            <a:pPr lvl="1"/>
            <a:r>
              <a:rPr lang="en-US" i="1" dirty="0">
                <a:solidFill>
                  <a:srgbClr val="C00000"/>
                </a:solidFill>
              </a:rPr>
              <a:t>This is a categorical exposure were there any notable trends across food security in the way the outcome changed? Does that matter? </a:t>
            </a:r>
          </a:p>
          <a:p>
            <a:pPr lvl="2"/>
            <a:r>
              <a:rPr lang="en-US" i="1" dirty="0"/>
              <a:t>Several of your phenols trend slightly upwards then downwards. Several are negative % differences indicating higher levels of phenols with reduced food security. </a:t>
            </a:r>
          </a:p>
          <a:p>
            <a:pPr marL="0" indent="0">
              <a:buNone/>
            </a:pPr>
            <a:endParaRPr lang="en-US" i="1" dirty="0"/>
          </a:p>
        </p:txBody>
      </p:sp>
    </p:spTree>
    <p:extLst>
      <p:ext uri="{BB962C8B-B14F-4D97-AF65-F5344CB8AC3E}">
        <p14:creationId xmlns:p14="http://schemas.microsoft.com/office/powerpoint/2010/main" val="4198598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EDF49-C2CE-A4B9-86BD-168569772B1E}"/>
              </a:ext>
            </a:extLst>
          </p:cNvPr>
          <p:cNvSpPr>
            <a:spLocks noGrp="1"/>
          </p:cNvSpPr>
          <p:nvPr>
            <p:ph type="title"/>
          </p:nvPr>
        </p:nvSpPr>
        <p:spPr/>
        <p:txBody>
          <a:bodyPr/>
          <a:lstStyle/>
          <a:p>
            <a:r>
              <a:rPr lang="en-US" dirty="0"/>
              <a:t>Structure: Main Analysis </a:t>
            </a:r>
          </a:p>
        </p:txBody>
      </p:sp>
      <p:pic>
        <p:nvPicPr>
          <p:cNvPr id="4" name="Picture 3" descr="A graph of a number of data&#10;&#10;AI-generated content may be incorrect.">
            <a:extLst>
              <a:ext uri="{FF2B5EF4-FFF2-40B4-BE49-F238E27FC236}">
                <a16:creationId xmlns:a16="http://schemas.microsoft.com/office/drawing/2014/main" id="{F357F6AC-794E-C6DB-B746-7252D8BAD79A}"/>
              </a:ext>
            </a:extLst>
          </p:cNvPr>
          <p:cNvPicPr>
            <a:picLocks noChangeAspect="1"/>
          </p:cNvPicPr>
          <p:nvPr/>
        </p:nvPicPr>
        <p:blipFill>
          <a:blip r:embed="rId3"/>
          <a:srcRect r="24312"/>
          <a:stretch>
            <a:fillRect/>
          </a:stretch>
        </p:blipFill>
        <p:spPr>
          <a:xfrm>
            <a:off x="4495800" y="1521279"/>
            <a:ext cx="6858000" cy="4686300"/>
          </a:xfrm>
          <a:prstGeom prst="rect">
            <a:avLst/>
          </a:prstGeom>
        </p:spPr>
      </p:pic>
      <p:sp>
        <p:nvSpPr>
          <p:cNvPr id="5" name="TextBox 4">
            <a:extLst>
              <a:ext uri="{FF2B5EF4-FFF2-40B4-BE49-F238E27FC236}">
                <a16:creationId xmlns:a16="http://schemas.microsoft.com/office/drawing/2014/main" id="{9F4B509A-A743-CF3D-CA03-C2348A69C6B6}"/>
              </a:ext>
            </a:extLst>
          </p:cNvPr>
          <p:cNvSpPr txBox="1"/>
          <p:nvPr/>
        </p:nvSpPr>
        <p:spPr>
          <a:xfrm>
            <a:off x="609600" y="2256745"/>
            <a:ext cx="3294743" cy="2862322"/>
          </a:xfrm>
          <a:prstGeom prst="rect">
            <a:avLst/>
          </a:prstGeom>
          <a:noFill/>
        </p:spPr>
        <p:txBody>
          <a:bodyPr wrap="square" rtlCol="0">
            <a:spAutoFit/>
          </a:bodyPr>
          <a:lstStyle/>
          <a:p>
            <a:r>
              <a:rPr lang="en-US" dirty="0"/>
              <a:t>Significant findings?</a:t>
            </a:r>
          </a:p>
          <a:p>
            <a:endParaRPr lang="en-US" dirty="0"/>
          </a:p>
          <a:p>
            <a:r>
              <a:rPr lang="en-US" dirty="0"/>
              <a:t>Trends across levels of reduced food security? </a:t>
            </a:r>
          </a:p>
          <a:p>
            <a:endParaRPr lang="en-US" dirty="0"/>
          </a:p>
          <a:p>
            <a:r>
              <a:rPr lang="en-US" dirty="0"/>
              <a:t>Above or below the reference? </a:t>
            </a:r>
          </a:p>
          <a:p>
            <a:endParaRPr lang="en-US" dirty="0"/>
          </a:p>
          <a:p>
            <a:r>
              <a:rPr lang="en-US" dirty="0"/>
              <a:t>Higher or lower concentrations compared to the reference?  </a:t>
            </a:r>
          </a:p>
          <a:p>
            <a:endParaRPr lang="en-US" dirty="0"/>
          </a:p>
        </p:txBody>
      </p:sp>
    </p:spTree>
    <p:extLst>
      <p:ext uri="{BB962C8B-B14F-4D97-AF65-F5344CB8AC3E}">
        <p14:creationId xmlns:p14="http://schemas.microsoft.com/office/powerpoint/2010/main" val="2939850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2047A-E1C9-794D-0E74-7C0D030DE04E}"/>
              </a:ext>
            </a:extLst>
          </p:cNvPr>
          <p:cNvSpPr>
            <a:spLocks noGrp="1"/>
          </p:cNvSpPr>
          <p:nvPr>
            <p:ph type="title"/>
          </p:nvPr>
        </p:nvSpPr>
        <p:spPr/>
        <p:txBody>
          <a:bodyPr/>
          <a:lstStyle/>
          <a:p>
            <a:r>
              <a:rPr lang="en-US" dirty="0"/>
              <a:t>Structure: Secondary Analyses</a:t>
            </a:r>
          </a:p>
        </p:txBody>
      </p:sp>
      <p:sp>
        <p:nvSpPr>
          <p:cNvPr id="3" name="Content Placeholder 2">
            <a:extLst>
              <a:ext uri="{FF2B5EF4-FFF2-40B4-BE49-F238E27FC236}">
                <a16:creationId xmlns:a16="http://schemas.microsoft.com/office/drawing/2014/main" id="{63F14725-B16A-D8CF-D65F-0954888E045A}"/>
              </a:ext>
            </a:extLst>
          </p:cNvPr>
          <p:cNvSpPr>
            <a:spLocks noGrp="1"/>
          </p:cNvSpPr>
          <p:nvPr>
            <p:ph idx="1"/>
          </p:nvPr>
        </p:nvSpPr>
        <p:spPr/>
        <p:txBody>
          <a:bodyPr>
            <a:normAutofit lnSpcReduction="10000"/>
          </a:bodyPr>
          <a:lstStyle/>
          <a:p>
            <a:pPr>
              <a:spcAft>
                <a:spcPts val="600"/>
              </a:spcAft>
            </a:pPr>
            <a:r>
              <a:rPr lang="en-US" dirty="0"/>
              <a:t>Think of “Aim 2” </a:t>
            </a:r>
          </a:p>
          <a:p>
            <a:pPr lvl="1">
              <a:spcAft>
                <a:spcPts val="600"/>
              </a:spcAft>
            </a:pPr>
            <a:r>
              <a:rPr lang="en-US" sz="2800" dirty="0"/>
              <a:t>Secondary exposure/outcome </a:t>
            </a:r>
          </a:p>
          <a:p>
            <a:pPr lvl="1">
              <a:spcAft>
                <a:spcPts val="600"/>
              </a:spcAft>
            </a:pPr>
            <a:r>
              <a:rPr lang="en-US" sz="2800" dirty="0"/>
              <a:t>Heterogeneity/Trends/Mediation or other complex analysis proposed </a:t>
            </a:r>
          </a:p>
          <a:p>
            <a:pPr>
              <a:spcAft>
                <a:spcPts val="600"/>
              </a:spcAft>
            </a:pPr>
            <a:endParaRPr lang="en-US" sz="3200" dirty="0"/>
          </a:p>
          <a:p>
            <a:pPr>
              <a:spcAft>
                <a:spcPts val="600"/>
              </a:spcAft>
            </a:pPr>
            <a:r>
              <a:rPr lang="en-US" sz="3200" dirty="0"/>
              <a:t>Still in context of main results, now expounding </a:t>
            </a:r>
          </a:p>
          <a:p>
            <a:pPr lvl="1">
              <a:spcAft>
                <a:spcPts val="600"/>
              </a:spcAft>
            </a:pPr>
            <a:r>
              <a:rPr lang="en-US" sz="2800" dirty="0"/>
              <a:t>Are there subgroup effects? </a:t>
            </a:r>
          </a:p>
          <a:p>
            <a:pPr lvl="1">
              <a:spcAft>
                <a:spcPts val="600"/>
              </a:spcAft>
            </a:pPr>
            <a:r>
              <a:rPr lang="en-US" sz="2800" dirty="0"/>
              <a:t>Are there third variables of interest that explain or result in different A</a:t>
            </a:r>
            <a:r>
              <a:rPr lang="en-US" sz="2800" dirty="0">
                <a:sym typeface="Wingdings" pitchFamily="2" charset="2"/>
              </a:rPr>
              <a:t>Y association we previously reported on? </a:t>
            </a:r>
            <a:endParaRPr lang="en-US" sz="2800" dirty="0"/>
          </a:p>
        </p:txBody>
      </p:sp>
    </p:spTree>
    <p:extLst>
      <p:ext uri="{BB962C8B-B14F-4D97-AF65-F5344CB8AC3E}">
        <p14:creationId xmlns:p14="http://schemas.microsoft.com/office/powerpoint/2010/main" val="957990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5DBA6-AED0-A064-B83A-F1C5CDEC55F9}"/>
              </a:ext>
            </a:extLst>
          </p:cNvPr>
          <p:cNvSpPr>
            <a:spLocks noGrp="1"/>
          </p:cNvSpPr>
          <p:nvPr>
            <p:ph type="title"/>
          </p:nvPr>
        </p:nvSpPr>
        <p:spPr/>
        <p:txBody>
          <a:bodyPr/>
          <a:lstStyle/>
          <a:p>
            <a:r>
              <a:rPr lang="en-US" dirty="0"/>
              <a:t>Structure: Secondary Analyses </a:t>
            </a:r>
          </a:p>
        </p:txBody>
      </p:sp>
      <p:sp>
        <p:nvSpPr>
          <p:cNvPr id="3" name="Content Placeholder 2">
            <a:extLst>
              <a:ext uri="{FF2B5EF4-FFF2-40B4-BE49-F238E27FC236}">
                <a16:creationId xmlns:a16="http://schemas.microsoft.com/office/drawing/2014/main" id="{AD57F20D-8C79-DF4D-03BE-393B7AFF12D1}"/>
              </a:ext>
            </a:extLst>
          </p:cNvPr>
          <p:cNvSpPr>
            <a:spLocks noGrp="1"/>
          </p:cNvSpPr>
          <p:nvPr>
            <p:ph idx="1"/>
          </p:nvPr>
        </p:nvSpPr>
        <p:spPr/>
        <p:txBody>
          <a:bodyPr/>
          <a:lstStyle/>
          <a:p>
            <a:r>
              <a:rPr lang="en-US" dirty="0"/>
              <a:t>Start each analyses in new paragraph</a:t>
            </a:r>
          </a:p>
          <a:p>
            <a:pPr lvl="1"/>
            <a:r>
              <a:rPr lang="en-US" dirty="0"/>
              <a:t>Indicate w/ sentence beginning of new results section to provide context</a:t>
            </a:r>
          </a:p>
          <a:p>
            <a:pPr marL="457200" lvl="1" indent="0">
              <a:buNone/>
            </a:pPr>
            <a:endParaRPr lang="en-US" dirty="0"/>
          </a:p>
          <a:p>
            <a:pPr>
              <a:spcAft>
                <a:spcPts val="600"/>
              </a:spcAft>
            </a:pPr>
            <a:r>
              <a:rPr lang="en-US" dirty="0"/>
              <a:t>In the context of interaction/effect measure modification report relevant </a:t>
            </a:r>
            <a:r>
              <a:rPr lang="en-US" dirty="0" err="1"/>
              <a:t>p</a:t>
            </a:r>
            <a:r>
              <a:rPr lang="en-US" baseline="-25000" dirty="0" err="1"/>
              <a:t>interaction</a:t>
            </a:r>
            <a:r>
              <a:rPr lang="en-US" dirty="0"/>
              <a:t>. </a:t>
            </a:r>
          </a:p>
          <a:p>
            <a:pPr>
              <a:spcAft>
                <a:spcPts val="600"/>
              </a:spcAft>
            </a:pPr>
            <a:r>
              <a:rPr lang="en-US" dirty="0"/>
              <a:t>Discuss subgroup effects in context of relative comparison </a:t>
            </a:r>
          </a:p>
          <a:p>
            <a:pPr lvl="1">
              <a:spcAft>
                <a:spcPts val="600"/>
              </a:spcAft>
            </a:pPr>
            <a:r>
              <a:rPr lang="en-US" dirty="0"/>
              <a:t>Higher/lower, stronger etc. </a:t>
            </a:r>
          </a:p>
        </p:txBody>
      </p:sp>
    </p:spTree>
    <p:extLst>
      <p:ext uri="{BB962C8B-B14F-4D97-AF65-F5344CB8AC3E}">
        <p14:creationId xmlns:p14="http://schemas.microsoft.com/office/powerpoint/2010/main" val="3225940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BF9C4-417F-B6FB-A35F-34433E9B44CA}"/>
              </a:ext>
            </a:extLst>
          </p:cNvPr>
          <p:cNvSpPr>
            <a:spLocks noGrp="1"/>
          </p:cNvSpPr>
          <p:nvPr>
            <p:ph type="title"/>
          </p:nvPr>
        </p:nvSpPr>
        <p:spPr/>
        <p:txBody>
          <a:bodyPr/>
          <a:lstStyle/>
          <a:p>
            <a:r>
              <a:rPr lang="en-US" dirty="0"/>
              <a:t>Structure: Ancillary Analysis </a:t>
            </a:r>
          </a:p>
        </p:txBody>
      </p:sp>
      <p:sp>
        <p:nvSpPr>
          <p:cNvPr id="3" name="Content Placeholder 2">
            <a:extLst>
              <a:ext uri="{FF2B5EF4-FFF2-40B4-BE49-F238E27FC236}">
                <a16:creationId xmlns:a16="http://schemas.microsoft.com/office/drawing/2014/main" id="{28ED478C-BAC4-D399-7F2E-0C37302DAC73}"/>
              </a:ext>
            </a:extLst>
          </p:cNvPr>
          <p:cNvSpPr>
            <a:spLocks noGrp="1"/>
          </p:cNvSpPr>
          <p:nvPr>
            <p:ph idx="1"/>
          </p:nvPr>
        </p:nvSpPr>
        <p:spPr/>
        <p:txBody>
          <a:bodyPr/>
          <a:lstStyle/>
          <a:p>
            <a:r>
              <a:rPr lang="en-US" dirty="0"/>
              <a:t>Sensitivity Analysis </a:t>
            </a:r>
          </a:p>
          <a:p>
            <a:r>
              <a:rPr lang="en-US" dirty="0"/>
              <a:t>Post-Hoc Analysis </a:t>
            </a:r>
          </a:p>
          <a:p>
            <a:endParaRPr lang="en-US" dirty="0"/>
          </a:p>
          <a:p>
            <a:r>
              <a:rPr lang="en-US" dirty="0"/>
              <a:t>In general: </a:t>
            </a:r>
          </a:p>
          <a:p>
            <a:pPr lvl="1"/>
            <a:r>
              <a:rPr lang="en-US" dirty="0"/>
              <a:t>Keep it brief, and utilize space to discuss findings in the context of generating new hypothesis</a:t>
            </a:r>
          </a:p>
        </p:txBody>
      </p:sp>
    </p:spTree>
    <p:extLst>
      <p:ext uri="{BB962C8B-B14F-4D97-AF65-F5344CB8AC3E}">
        <p14:creationId xmlns:p14="http://schemas.microsoft.com/office/powerpoint/2010/main" val="2659229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TotalTime>
  <Words>1464</Words>
  <Application>Microsoft Macintosh PowerPoint</Application>
  <PresentationFormat>Widescreen</PresentationFormat>
  <Paragraphs>159</Paragraphs>
  <Slides>18</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Wingdings</vt:lpstr>
      <vt:lpstr>Office Theme</vt:lpstr>
      <vt:lpstr>Results Section </vt:lpstr>
      <vt:lpstr>Goal</vt:lpstr>
      <vt:lpstr>Goal</vt:lpstr>
      <vt:lpstr>Structure: Overview</vt:lpstr>
      <vt:lpstr>Structure: Overview </vt:lpstr>
      <vt:lpstr>Structure: Descriptive Statistics </vt:lpstr>
      <vt:lpstr>Structure: Descriptive Statistics </vt:lpstr>
      <vt:lpstr>Structure: Descriptive Statistics </vt:lpstr>
      <vt:lpstr>Structure: Descriptive Statistics </vt:lpstr>
      <vt:lpstr>Structure: Main Analysis </vt:lpstr>
      <vt:lpstr>Structure: Main Analysis </vt:lpstr>
      <vt:lpstr>Structure: Main Analysis </vt:lpstr>
      <vt:lpstr>Structure: Main Analysis </vt:lpstr>
      <vt:lpstr>Structure: Main Analysis </vt:lpstr>
      <vt:lpstr>Structure: Main Analysis </vt:lpstr>
      <vt:lpstr>Structure: Secondary Analyses</vt:lpstr>
      <vt:lpstr>Structure: Secondary Analyses </vt:lpstr>
      <vt:lpstr>Structure: Ancillary Analysis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Nickelberry, Marshae</dc:creator>
  <cp:lastModifiedBy>Nickelberry, Marshae</cp:lastModifiedBy>
  <cp:revision>3</cp:revision>
  <dcterms:created xsi:type="dcterms:W3CDTF">2025-11-21T13:00:50Z</dcterms:created>
  <dcterms:modified xsi:type="dcterms:W3CDTF">2025-11-21T17:09:17Z</dcterms:modified>
</cp:coreProperties>
</file>